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con energía. Pregunta detonadora: mira a tu alrededor... ¿qué objetos tienen forma de caja? ¿de pelota? ¿de cono de helado? Escucha varias ideas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 con los niños. DBA 6 de Matemáticas: reconocer y comparar objetos tridimensionales.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 de sólido geométrico. Temporizador de 5 minutos. Muestra objetos reales de la clase si puedes (caja, lata, pelota).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5 sólidos con un objeto de ejemplo cada uno. Los niños copian la tabla.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¿Ruedan o se apilan? Explica: los que tienen caras planas se apilan; los curvos ruedan.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Sólidos en la vida real. Los niños copian y añaden 1 ejemplo propio de cada sólido que vean en el salón.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Respuestas: dado-cubo, lata-cilindro, pelota-esfera, gorro-cono, caja de pañuelos-cubo/prisma. Corrección colectiva.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nombra los 5 sólidos y di cuáles ruedan. Pide varios ejemplos.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619500" cy="36195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0" y="7620000"/>
            <a:ext cx="4000500" cy="4000500"/>
          </a:xfrm>
          <a:prstGeom prst="ellipse">
            <a:avLst/>
          </a:prstGeom>
          <a:solidFill>
            <a:srgbClr val="1982C4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15049500" y="1143000"/>
            <a:ext cx="1143001" cy="1143001"/>
          </a:xfrm>
          <a:prstGeom prst="roundRect">
            <a:avLst>
              <a:gd name="adj" fmla="val 23333"/>
            </a:avLst>
          </a:prstGeom>
          <a:solidFill>
            <a:srgbClr val="FF595E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7715250"/>
            <a:ext cx="857250" cy="85725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6" name="Shape 4"/>
          <p:cNvSpPr/>
          <p:nvPr/>
        </p:nvSpPr>
        <p:spPr>
          <a:xfrm>
            <a:off x="6631781" y="2176463"/>
            <a:ext cx="5024438" cy="6953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44358" y="2328863"/>
            <a:ext cx="234352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MATEMÁTICA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295656" y="2328863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55971" y="2328863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760367" y="3214688"/>
            <a:ext cx="6767118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897"/>
              </a:lnSpc>
              <a:buNone/>
            </a:pPr>
            <a:r>
              <a:rPr lang="en-US" sz="9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Los Sólidos Geométricos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5181540" y="5957888"/>
            <a:ext cx="792491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Cubo, esfera, cilindro, cono y pirámide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5096768" y="6843713"/>
            <a:ext cx="1451223" cy="1266825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87268" y="6958013"/>
            <a:ext cx="1070223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7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🧊</a:t>
            </a:r>
            <a:endParaRPr lang="en-US" sz="5700" dirty="0"/>
          </a:p>
        </p:txBody>
      </p:sp>
      <p:sp>
        <p:nvSpPr>
          <p:cNvPr id="14" name="Shape 12"/>
          <p:cNvSpPr/>
          <p:nvPr/>
        </p:nvSpPr>
        <p:spPr>
          <a:xfrm>
            <a:off x="6757541" y="6843713"/>
            <a:ext cx="1451223" cy="1266825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8041" y="6958013"/>
            <a:ext cx="1070223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7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⚽</a:t>
            </a:r>
            <a:endParaRPr lang="en-US" sz="5700" dirty="0"/>
          </a:p>
        </p:txBody>
      </p:sp>
      <p:sp>
        <p:nvSpPr>
          <p:cNvPr id="16" name="Shape 14"/>
          <p:cNvSpPr/>
          <p:nvPr/>
        </p:nvSpPr>
        <p:spPr>
          <a:xfrm>
            <a:off x="8418314" y="6843713"/>
            <a:ext cx="1451223" cy="1266825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08814" y="6958013"/>
            <a:ext cx="1070223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7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🥫</a:t>
            </a:r>
            <a:endParaRPr lang="en-US" sz="5700" dirty="0"/>
          </a:p>
        </p:txBody>
      </p:sp>
      <p:sp>
        <p:nvSpPr>
          <p:cNvPr id="18" name="Shape 16"/>
          <p:cNvSpPr/>
          <p:nvPr/>
        </p:nvSpPr>
        <p:spPr>
          <a:xfrm>
            <a:off x="10079087" y="6843713"/>
            <a:ext cx="1451223" cy="1266825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269587" y="6958013"/>
            <a:ext cx="1070223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7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🍦</a:t>
            </a:r>
            <a:endParaRPr lang="en-US" sz="5700" dirty="0"/>
          </a:p>
        </p:txBody>
      </p:sp>
      <p:sp>
        <p:nvSpPr>
          <p:cNvPr id="20" name="Shape 18"/>
          <p:cNvSpPr/>
          <p:nvPr/>
        </p:nvSpPr>
        <p:spPr>
          <a:xfrm>
            <a:off x="11739860" y="6843713"/>
            <a:ext cx="1451223" cy="1266825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930360" y="6958013"/>
            <a:ext cx="1070223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7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🔺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977337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Reconocer los </a:t>
            </a:r>
            <a:pPr algn="l" indent="0" marL="0"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sólidos geométricos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sus nombres.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834254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Diferenciar cuáles </a:t>
            </a:r>
            <a:pPr algn="l" indent="0" marL="0">
              <a:buNone/>
            </a:pPr>
            <a:r>
              <a:rPr lang="en-US" sz="285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ruedan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cuáles </a:t>
            </a:r>
            <a:pPr algn="l" indent="0" marL="0">
              <a:buNone/>
            </a:pPr>
            <a:r>
              <a:rPr lang="en-US" sz="28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 apilan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1063433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Encontrar sólidos geométricos en objetos de mi entorno.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matemática, lápiz y colores.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es un sólido geométrico?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886075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BF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3009900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sólido geométrico es una figura que tiene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tres dimensiones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: largo, ancho y alto. ¡Ocupa un lugar en el espacio!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" y="4657725"/>
            <a:ext cx="15049500" cy="971550"/>
          </a:xfrm>
          <a:prstGeom prst="roundRect">
            <a:avLst>
              <a:gd name="adj" fmla="val 23529"/>
            </a:avLst>
          </a:prstGeom>
          <a:solidFill>
            <a:srgbClr val="FFF3D6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924425"/>
            <a:ext cx="157162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Las figuras planas (círculo, cuadrado) se dibujan; los sólidos se pueden </a:t>
            </a:r>
            <a:pPr algn="l" indent="0" marL="0">
              <a:buNone/>
            </a:pPr>
            <a:r>
              <a:rPr lang="en-US" sz="2550" b="1" dirty="0">
                <a:solidFill>
                  <a:srgbClr val="C89B1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tomar con la mano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6675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0010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5811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Los 5 sólidos geométricos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552700"/>
            <a:ext cx="2990850" cy="2305050"/>
          </a:xfrm>
          <a:prstGeom prst="roundRect">
            <a:avLst>
              <a:gd name="adj" fmla="val 9917"/>
            </a:avLst>
          </a:prstGeom>
          <a:solidFill>
            <a:srgbClr val="FDE3E4"/>
          </a:solidFill>
          <a:ln/>
        </p:spPr>
      </p:sp>
      <p:sp>
        <p:nvSpPr>
          <p:cNvPr id="6" name="Text 4"/>
          <p:cNvSpPr/>
          <p:nvPr/>
        </p:nvSpPr>
        <p:spPr>
          <a:xfrm>
            <a:off x="928688" y="2781300"/>
            <a:ext cx="3038475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🧊</a:t>
            </a:r>
            <a:endParaRPr lang="en-US" sz="5250" dirty="0"/>
          </a:p>
        </p:txBody>
      </p:sp>
      <p:sp>
        <p:nvSpPr>
          <p:cNvPr id="7" name="Text 5"/>
          <p:cNvSpPr/>
          <p:nvPr/>
        </p:nvSpPr>
        <p:spPr>
          <a:xfrm>
            <a:off x="928688" y="3838575"/>
            <a:ext cx="30384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Cubo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28688" y="4324350"/>
            <a:ext cx="30384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dado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33850" y="2552700"/>
            <a:ext cx="2990850" cy="2305050"/>
          </a:xfrm>
          <a:prstGeom prst="roundRect">
            <a:avLst>
              <a:gd name="adj" fmla="val 9917"/>
            </a:avLst>
          </a:prstGeom>
          <a:solidFill>
            <a:srgbClr val="E3F0FA"/>
          </a:solidFill>
          <a:ln/>
        </p:spPr>
      </p:sp>
      <p:sp>
        <p:nvSpPr>
          <p:cNvPr id="10" name="Text 8"/>
          <p:cNvSpPr/>
          <p:nvPr/>
        </p:nvSpPr>
        <p:spPr>
          <a:xfrm>
            <a:off x="4110037" y="2781300"/>
            <a:ext cx="3038475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⚽</a:t>
            </a:r>
            <a:endParaRPr lang="en-US" sz="5250" dirty="0"/>
          </a:p>
        </p:txBody>
      </p:sp>
      <p:sp>
        <p:nvSpPr>
          <p:cNvPr id="11" name="Text 9"/>
          <p:cNvSpPr/>
          <p:nvPr/>
        </p:nvSpPr>
        <p:spPr>
          <a:xfrm>
            <a:off x="4110037" y="3838575"/>
            <a:ext cx="30384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Esfera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4110037" y="4324350"/>
            <a:ext cx="30384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una pelota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0" y="2552700"/>
            <a:ext cx="2990850" cy="2305050"/>
          </a:xfrm>
          <a:prstGeom prst="roundRect">
            <a:avLst>
              <a:gd name="adj" fmla="val 9917"/>
            </a:avLst>
          </a:prstGeom>
          <a:solidFill>
            <a:srgbClr val="FFF3D6"/>
          </a:solidFill>
          <a:ln/>
        </p:spPr>
      </p:sp>
      <p:sp>
        <p:nvSpPr>
          <p:cNvPr id="14" name="Text 12"/>
          <p:cNvSpPr/>
          <p:nvPr/>
        </p:nvSpPr>
        <p:spPr>
          <a:xfrm>
            <a:off x="7291388" y="2781300"/>
            <a:ext cx="3038475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🥫</a:t>
            </a:r>
            <a:endParaRPr lang="en-US" sz="5250" dirty="0"/>
          </a:p>
        </p:txBody>
      </p:sp>
      <p:sp>
        <p:nvSpPr>
          <p:cNvPr id="15" name="Text 13"/>
          <p:cNvSpPr/>
          <p:nvPr/>
        </p:nvSpPr>
        <p:spPr>
          <a:xfrm>
            <a:off x="7291388" y="3838575"/>
            <a:ext cx="30384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C89B1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Cilindro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7291388" y="4324350"/>
            <a:ext cx="30384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una lata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496550" y="2552700"/>
            <a:ext cx="2990850" cy="2305050"/>
          </a:xfrm>
          <a:prstGeom prst="roundRect">
            <a:avLst>
              <a:gd name="adj" fmla="val 9917"/>
            </a:avLst>
          </a:prstGeom>
          <a:solidFill>
            <a:srgbClr val="E9F5D8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2738" y="2781300"/>
            <a:ext cx="3038475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🍦</a:t>
            </a:r>
            <a:endParaRPr lang="en-US" sz="5250" dirty="0"/>
          </a:p>
        </p:txBody>
      </p:sp>
      <p:sp>
        <p:nvSpPr>
          <p:cNvPr id="19" name="Text 17"/>
          <p:cNvSpPr/>
          <p:nvPr/>
        </p:nvSpPr>
        <p:spPr>
          <a:xfrm>
            <a:off x="10472738" y="3838575"/>
            <a:ext cx="30384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6FA31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Cono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0472738" y="4324350"/>
            <a:ext cx="30384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cono de helado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677900" y="2552700"/>
            <a:ext cx="2990850" cy="2305050"/>
          </a:xfrm>
          <a:prstGeom prst="roundRect">
            <a:avLst>
              <a:gd name="adj" fmla="val 9917"/>
            </a:avLst>
          </a:prstGeom>
          <a:solidFill>
            <a:srgbClr val="F1EAFB"/>
          </a:solidFill>
          <a:ln/>
        </p:spPr>
      </p:sp>
      <p:sp>
        <p:nvSpPr>
          <p:cNvPr id="22" name="Text 20"/>
          <p:cNvSpPr/>
          <p:nvPr/>
        </p:nvSpPr>
        <p:spPr>
          <a:xfrm>
            <a:off x="13654088" y="2781300"/>
            <a:ext cx="3038475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🔺</a:t>
            </a:r>
            <a:endParaRPr lang="en-US" sz="5250" dirty="0"/>
          </a:p>
        </p:txBody>
      </p:sp>
      <p:sp>
        <p:nvSpPr>
          <p:cNvPr id="23" name="Text 21"/>
          <p:cNvSpPr/>
          <p:nvPr/>
        </p:nvSpPr>
        <p:spPr>
          <a:xfrm>
            <a:off x="13654088" y="3838575"/>
            <a:ext cx="30384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Pirámide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3654088" y="4324350"/>
            <a:ext cx="30384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una carpa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¿Ruedan o se apilan?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809875"/>
            <a:ext cx="7191375" cy="1533525"/>
          </a:xfrm>
          <a:prstGeom prst="roundRect">
            <a:avLst>
              <a:gd name="adj" fmla="val 14907"/>
            </a:avLst>
          </a:prstGeom>
          <a:solidFill>
            <a:srgbClr val="E9F5D8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76575"/>
            <a:ext cx="715613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FA31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⚙️ RUEDAN (tienen partes curvas)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95400" y="3619500"/>
            <a:ext cx="715613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esfera · cilindro · cono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524875" y="2809875"/>
            <a:ext cx="7191375" cy="1533525"/>
          </a:xfrm>
          <a:prstGeom prst="roundRect">
            <a:avLst>
              <a:gd name="adj" fmla="val 14907"/>
            </a:avLst>
          </a:prstGeom>
          <a:solidFill>
            <a:srgbClr val="FDE3E4"/>
          </a:solidFill>
          <a:ln/>
        </p:spPr>
      </p:sp>
      <p:sp>
        <p:nvSpPr>
          <p:cNvPr id="9" name="Text 7"/>
          <p:cNvSpPr/>
          <p:nvPr/>
        </p:nvSpPr>
        <p:spPr>
          <a:xfrm>
            <a:off x="8867775" y="3076575"/>
            <a:ext cx="715613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🧱 SE APILAN (tienen caras planas)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867775" y="3619500"/>
            <a:ext cx="715613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cubo · pirámide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2500" y="4686300"/>
            <a:ext cx="180213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cilindro y el cono ruedan, ¡pero también pueden pararse en su cara plana!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Sólidos en mi vida diaria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809875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98132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📦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042368" y="3062288"/>
            <a:ext cx="713583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Cubo: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una caja, un dado, un cubo de Rubik.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392430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09575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🌍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042368" y="4176712"/>
            <a:ext cx="8627566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Esfera: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una pelota, una naranja, el globo terráqueo.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5038725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521017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🥁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042368" y="5291138"/>
            <a:ext cx="632186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C89B1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Cilindro: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una lata, un vaso, un tambor.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52500" y="615315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15" name="Text 13"/>
          <p:cNvSpPr/>
          <p:nvPr/>
        </p:nvSpPr>
        <p:spPr>
          <a:xfrm>
            <a:off x="1257300" y="632460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🎉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2042368" y="6405563"/>
            <a:ext cx="753905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6FA31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Cono: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gorro de fiesta, un cono de tránsito.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practicar!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2933700"/>
            <a:ext cx="15601950" cy="2295525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3238500"/>
            <a:ext cx="162401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Escribe el nombre del sólido de cada objeto: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929066" y="3781425"/>
            <a:ext cx="183781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🎲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1929066" y="4600575"/>
            <a:ext cx="1837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________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881816" y="3781425"/>
            <a:ext cx="183781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🥫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4881816" y="4600575"/>
            <a:ext cx="1837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________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834566" y="3781425"/>
            <a:ext cx="183781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🏀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7834566" y="4600575"/>
            <a:ext cx="1837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________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787316" y="3781425"/>
            <a:ext cx="183781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🎉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0787316" y="4600575"/>
            <a:ext cx="1837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________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740066" y="3781425"/>
            <a:ext cx="183781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🔺</a:t>
            </a:r>
            <a:endParaRPr lang="en-US" sz="4500" dirty="0"/>
          </a:p>
        </p:txBody>
      </p:sp>
      <p:sp>
        <p:nvSpPr>
          <p:cNvPr id="16" name="Text 14"/>
          <p:cNvSpPr/>
          <p:nvPr/>
        </p:nvSpPr>
        <p:spPr>
          <a:xfrm>
            <a:off x="13740066" y="4600575"/>
            <a:ext cx="1837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________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52500" y="5610225"/>
            <a:ext cx="15601950" cy="1047750"/>
          </a:xfrm>
          <a:prstGeom prst="roundRect">
            <a:avLst>
              <a:gd name="adj" fmla="val 25455"/>
            </a:avLst>
          </a:prstGeom>
          <a:solidFill>
            <a:srgbClr val="6A4C93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5915025"/>
            <a:ext cx="162401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Escribe </a:t>
            </a:r>
            <a:pPr algn="l" indent="0" marL="0">
              <a:buNone/>
            </a:pPr>
            <a:r>
              <a:rPr lang="en-US" sz="255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 sólidos que ruedan </a:t>
            </a:r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</a:t>
            </a:r>
            <a:pPr algn="l" indent="0" marL="0">
              <a:buNone/>
            </a:pPr>
            <a:r>
              <a:rPr lang="en-US" sz="255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 que se apilan</a:t>
            </a:r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82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414588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547938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00438"/>
            <a:ext cx="15697200" cy="2228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41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Nombra los 5 sólidos y di cuáles ruedan.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952500" y="6148388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FDCF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cuéntanos.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119938"/>
            <a:ext cx="8071396" cy="752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91388"/>
            <a:ext cx="755153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viste la geometría en todo lo que te rodea!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2026-07-26T16:20:10Z</dcterms:created>
  <dcterms:modified xsi:type="dcterms:W3CDTF">2026-07-26T16:20:10Z</dcterms:modified>
</cp:coreProperties>
</file>