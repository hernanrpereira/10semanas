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Saluda. Pregunta detonadora: ¿de dónde salen los pollitos? ¿Y los gaticos? ¿Nacen igual? Escucha 4 o 5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4 de Ciencias Naturales: comprender los ciclos de vida de los seres vivos.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del ciclo de vida y sus 4 etapas. Dibuja el círculo de flechas en el tablero mientras copian.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ovíparos. Pregunta antes: ¿qué animales conocen que pongan huevos?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vivíparos. Pregunta: ¿ustedes nacieron de un huevo? ¡No! Los humanos somos vivíparos.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completo: el ciclo de la gallina. Los niños copian y dibujan el ciclo con flechas en círculo.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pato O, conejo V, cocodrilo O, delfín V, águila O, cerdo V. Corrección colectiva: levanten la mano en O con forma de huevo.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ovíparos nacen de huevo, vivíparos del vientre. Pide 2 ejemplos de cada uno.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970005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6" name="Shape 4"/>
          <p:cNvSpPr/>
          <p:nvPr/>
        </p:nvSpPr>
        <p:spPr>
          <a:xfrm>
            <a:off x="5926485" y="2119313"/>
            <a:ext cx="6434882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68539" y="2271713"/>
            <a:ext cx="3895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NATURALES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000804" y="227171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261119" y="227171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076373" y="3157538"/>
            <a:ext cx="8135105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97"/>
              </a:lnSpc>
              <a:buNone/>
            </a:pPr>
            <a:r>
              <a:rPr lang="en-US" sz="9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ciclo de vida de los animales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884794" y="5900738"/>
            <a:ext cx="1051826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Ovíparos y vivíparos: ¿cómo nacen los animales?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573464" y="6815138"/>
            <a:ext cx="1480096" cy="1352550"/>
          </a:xfrm>
          <a:prstGeom prst="roundRect">
            <a:avLst>
              <a:gd name="adj" fmla="val 1971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9214" y="6948488"/>
            <a:ext cx="908596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🥚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7282160" y="6815138"/>
            <a:ext cx="1587252" cy="1352550"/>
          </a:xfrm>
          <a:prstGeom prst="roundRect">
            <a:avLst>
              <a:gd name="adj" fmla="val 1971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7910" y="6948488"/>
            <a:ext cx="1015752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🐣</a:t>
            </a:r>
            <a:endParaRPr lang="en-US" sz="6000" dirty="0"/>
          </a:p>
        </p:txBody>
      </p:sp>
      <p:sp>
        <p:nvSpPr>
          <p:cNvPr id="16" name="Shape 14"/>
          <p:cNvSpPr/>
          <p:nvPr/>
        </p:nvSpPr>
        <p:spPr>
          <a:xfrm>
            <a:off x="9098012" y="6815138"/>
            <a:ext cx="1693962" cy="1352550"/>
          </a:xfrm>
          <a:prstGeom prst="roundRect">
            <a:avLst>
              <a:gd name="adj" fmla="val 1971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83762" y="6948488"/>
            <a:ext cx="1122462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🐔</a:t>
            </a:r>
            <a:endParaRPr lang="en-US" sz="6000" dirty="0"/>
          </a:p>
        </p:txBody>
      </p:sp>
      <p:sp>
        <p:nvSpPr>
          <p:cNvPr id="18" name="Shape 16"/>
          <p:cNvSpPr/>
          <p:nvPr/>
        </p:nvSpPr>
        <p:spPr>
          <a:xfrm>
            <a:off x="11020574" y="6815138"/>
            <a:ext cx="1693962" cy="1352550"/>
          </a:xfrm>
          <a:prstGeom prst="roundRect">
            <a:avLst>
              <a:gd name="adj" fmla="val 1971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306324" y="6948488"/>
            <a:ext cx="1122462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🐱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34138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las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etapas del ciclo de vida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nacer, crecer, reproducirse y morir.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504950"/>
          </a:xfrm>
          <a:prstGeom prst="roundRect">
            <a:avLst>
              <a:gd name="adj" fmla="val 1772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286250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862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162425"/>
            <a:ext cx="1291094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Diferenciar animales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ovíparos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(nacen de huevo) y </a:t>
            </a:r>
            <a:pPr algn="l" indent="0" marL="0">
              <a:buNone/>
            </a:pPr>
            <a:r>
              <a:rPr lang="en-US" sz="28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vivíparos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(nacen del vientre).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66737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93407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9340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6053138"/>
            <a:ext cx="1095439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Clasificar animales de nuestro entorno según cómo nacen.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41997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naturales,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EA11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ciclo de vida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952500" y="29622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861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Todos los seres vivos cumplen un ciclo de vida: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nacen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crecen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reproducen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mueren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733925"/>
            <a:ext cx="2174528" cy="809625"/>
          </a:xfrm>
          <a:prstGeom prst="roundRect">
            <a:avLst>
              <a:gd name="adj" fmla="val 23529"/>
            </a:avLst>
          </a:prstGeom>
          <a:solidFill>
            <a:srgbClr val="6EA11E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886325"/>
            <a:ext cx="156492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Nacer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355628" y="4886325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003328" y="4733925"/>
            <a:ext cx="2392859" cy="809625"/>
          </a:xfrm>
          <a:prstGeom prst="roundRect">
            <a:avLst>
              <a:gd name="adj" fmla="val 23529"/>
            </a:avLst>
          </a:prstGeom>
          <a:solidFill>
            <a:srgbClr val="7F5D00"/>
          </a:solidFill>
          <a:ln/>
        </p:spPr>
      </p:sp>
      <p:sp>
        <p:nvSpPr>
          <p:cNvPr id="11" name="Text 9"/>
          <p:cNvSpPr/>
          <p:nvPr/>
        </p:nvSpPr>
        <p:spPr>
          <a:xfrm>
            <a:off x="4346228" y="4886325"/>
            <a:ext cx="178325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Crecer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624786" y="4886325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7272486" y="4733925"/>
            <a:ext cx="3592116" cy="809625"/>
          </a:xfrm>
          <a:prstGeom prst="roundRect">
            <a:avLst>
              <a:gd name="adj" fmla="val 23529"/>
            </a:avLst>
          </a:prstGeom>
          <a:solidFill>
            <a:srgbClr val="14689D"/>
          </a:solidFill>
          <a:ln/>
        </p:spPr>
      </p:sp>
      <p:sp>
        <p:nvSpPr>
          <p:cNvPr id="14" name="Text 12"/>
          <p:cNvSpPr/>
          <p:nvPr/>
        </p:nvSpPr>
        <p:spPr>
          <a:xfrm>
            <a:off x="7615386" y="4886325"/>
            <a:ext cx="301407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Reproducirse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093202" y="4886325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1740902" y="4733925"/>
            <a:ext cx="2138214" cy="809625"/>
          </a:xfrm>
          <a:prstGeom prst="roundRect">
            <a:avLst>
              <a:gd name="adj" fmla="val 23529"/>
            </a:avLst>
          </a:prstGeom>
          <a:solidFill>
            <a:srgbClr val="553D76"/>
          </a:solidFill>
          <a:ln/>
        </p:spPr>
      </p:sp>
      <p:sp>
        <p:nvSpPr>
          <p:cNvPr id="17" name="Text 15"/>
          <p:cNvSpPr/>
          <p:nvPr/>
        </p:nvSpPr>
        <p:spPr>
          <a:xfrm>
            <a:off x="12083802" y="4886325"/>
            <a:ext cx="1528614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Morir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EA11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Animales ovíparos 🥚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5752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ovíparos nacen de un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huevo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La mamá pone los huevos y los cuida hasta que se rompen y sale la cría.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67250"/>
            <a:ext cx="2463701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857750"/>
            <a:ext cx="185410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🐔 gallina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82901" y="4667250"/>
            <a:ext cx="2619673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0" name="Text 8"/>
          <p:cNvSpPr/>
          <p:nvPr/>
        </p:nvSpPr>
        <p:spPr>
          <a:xfrm>
            <a:off x="4025801" y="4857750"/>
            <a:ext cx="201246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🐢 tortuga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569273" y="4667250"/>
            <a:ext cx="2893516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6912173" y="4857750"/>
            <a:ext cx="2294522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🐍 serpiente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729490" y="4667250"/>
            <a:ext cx="2092226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72390" y="4857750"/>
            <a:ext cx="1482626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🐸 rana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2088416" y="4667250"/>
            <a:ext cx="1921520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6" name="Text 14"/>
          <p:cNvSpPr/>
          <p:nvPr/>
        </p:nvSpPr>
        <p:spPr>
          <a:xfrm>
            <a:off x="12431316" y="4857750"/>
            <a:ext cx="13119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🐟 pez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6EA11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Animales vivíparos 🐶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5752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vivíparos nacen del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vientre de su mamá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ya formados y vivos. Toman leche cuando son bebés.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67250"/>
            <a:ext cx="2093268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857750"/>
            <a:ext cx="148366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🐱 gato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312468" y="4667250"/>
            <a:ext cx="2241500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5368" y="4857750"/>
            <a:ext cx="16319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🐶 perro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20668" y="4667250"/>
            <a:ext cx="2123777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63568" y="4857750"/>
            <a:ext cx="151417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🐮 vaca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211145" y="4667250"/>
            <a:ext cx="2560737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54045" y="4857750"/>
            <a:ext cx="195175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🐴 caballo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1038582" y="4667250"/>
            <a:ext cx="3289697" cy="885825"/>
          </a:xfrm>
          <a:prstGeom prst="roundRect">
            <a:avLst>
              <a:gd name="adj" fmla="val 25806"/>
            </a:avLst>
          </a:prstGeom>
          <a:solidFill>
            <a:srgbClr val="3D26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381482" y="4857750"/>
            <a:ext cx="270258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🧒 ser humano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7282607" cy="628650"/>
          </a:xfrm>
          <a:prstGeom prst="roundRect">
            <a:avLst>
              <a:gd name="adj" fmla="val 30303"/>
            </a:avLst>
          </a:prstGeom>
          <a:solidFill>
            <a:srgbClr val="6EA11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9295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Y DIBUJA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CC4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ciclo de la gallina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3133576" y="2857500"/>
            <a:ext cx="1877764" cy="2028825"/>
          </a:xfrm>
          <a:prstGeom prst="roundRect">
            <a:avLst>
              <a:gd name="adj" fmla="val 14203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3476476" y="3143250"/>
            <a:ext cx="1191964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🥚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476476" y="4229100"/>
            <a:ext cx="11919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Huevo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54241" y="3571875"/>
            <a:ext cx="571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6192441" y="2857500"/>
            <a:ext cx="1972419" cy="2028825"/>
          </a:xfrm>
          <a:prstGeom prst="roundRect">
            <a:avLst>
              <a:gd name="adj" fmla="val 13521"/>
            </a:avLst>
          </a:prstGeom>
          <a:solidFill>
            <a:srgbClr val="3D2600"/>
          </a:solidFill>
          <a:ln/>
        </p:spPr>
      </p:sp>
      <p:sp>
        <p:nvSpPr>
          <p:cNvPr id="10" name="Text 8"/>
          <p:cNvSpPr/>
          <p:nvPr/>
        </p:nvSpPr>
        <p:spPr>
          <a:xfrm>
            <a:off x="6512920" y="3143250"/>
            <a:ext cx="1331461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🐣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512920" y="4229100"/>
            <a:ext cx="13314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Pollito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07760" y="3571875"/>
            <a:ext cx="571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345960" y="2857500"/>
            <a:ext cx="2578447" cy="2028825"/>
          </a:xfrm>
          <a:prstGeom prst="roundRect">
            <a:avLst>
              <a:gd name="adj" fmla="val 13146"/>
            </a:avLst>
          </a:prstGeom>
          <a:solidFill>
            <a:srgbClr val="3D2600"/>
          </a:solidFill>
          <a:ln/>
        </p:spPr>
      </p:sp>
      <p:sp>
        <p:nvSpPr>
          <p:cNvPr id="14" name="Text 12"/>
          <p:cNvSpPr/>
          <p:nvPr/>
        </p:nvSpPr>
        <p:spPr>
          <a:xfrm>
            <a:off x="9636137" y="3143250"/>
            <a:ext cx="1998092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🐤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636137" y="4229100"/>
            <a:ext cx="19980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Pollo joven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267307" y="3571875"/>
            <a:ext cx="571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13105507" y="2857500"/>
            <a:ext cx="2048917" cy="2028825"/>
          </a:xfrm>
          <a:prstGeom prst="roundRect">
            <a:avLst>
              <a:gd name="adj" fmla="val 13146"/>
            </a:avLst>
          </a:prstGeom>
          <a:solidFill>
            <a:srgbClr val="3D26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422161" y="3143250"/>
            <a:ext cx="1415608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🐔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3422161" y="4229100"/>
            <a:ext cx="14156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Gallina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2500" y="52292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gallina adulta pone nuevos huevos... ¡y el ciclo vuelve a empezar!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25700" cy="2828925"/>
          </a:xfrm>
          <a:prstGeom prst="roundRect">
            <a:avLst>
              <a:gd name="adj" fmla="val 9428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76600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O si es ovíparo o V si es vivíparo: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819525"/>
            <a:ext cx="2809875" cy="714375"/>
          </a:xfrm>
          <a:prstGeom prst="roundRect">
            <a:avLst>
              <a:gd name="adj" fmla="val 24000"/>
            </a:avLst>
          </a:prstGeom>
          <a:solidFill>
            <a:srgbClr val="3D2600"/>
          </a:solidFill>
          <a:ln/>
        </p:spPr>
      </p:sp>
      <p:sp>
        <p:nvSpPr>
          <p:cNvPr id="8" name="Text 6"/>
          <p:cNvSpPr/>
          <p:nvPr/>
        </p:nvSpPr>
        <p:spPr>
          <a:xfrm>
            <a:off x="1657350" y="3933825"/>
            <a:ext cx="232267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🦆 pato ___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4352925" y="3819525"/>
            <a:ext cx="3108127" cy="714375"/>
          </a:xfrm>
          <a:prstGeom prst="roundRect">
            <a:avLst>
              <a:gd name="adj" fmla="val 24000"/>
            </a:avLst>
          </a:prstGeom>
          <a:solidFill>
            <a:srgbClr val="3D2600"/>
          </a:solidFill>
          <a:ln/>
        </p:spPr>
      </p:sp>
      <p:sp>
        <p:nvSpPr>
          <p:cNvPr id="10" name="Text 8"/>
          <p:cNvSpPr/>
          <p:nvPr/>
        </p:nvSpPr>
        <p:spPr>
          <a:xfrm>
            <a:off x="4638675" y="3933825"/>
            <a:ext cx="262987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🐰 conejo ___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7632502" y="3819525"/>
            <a:ext cx="3614440" cy="714375"/>
          </a:xfrm>
          <a:prstGeom prst="roundRect">
            <a:avLst>
              <a:gd name="adj" fmla="val 24000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18252" y="3933825"/>
            <a:ext cx="315137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🐊 cocodrilo ___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1418391" y="3819525"/>
            <a:ext cx="2971205" cy="714375"/>
          </a:xfrm>
          <a:prstGeom prst="roundRect">
            <a:avLst>
              <a:gd name="adj" fmla="val 24000"/>
            </a:avLst>
          </a:prstGeom>
          <a:solidFill>
            <a:srgbClr val="3D26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141" y="3933825"/>
            <a:ext cx="248884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🐬 delfín ___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1371600" y="4705350"/>
            <a:ext cx="3098006" cy="714375"/>
          </a:xfrm>
          <a:prstGeom prst="roundRect">
            <a:avLst>
              <a:gd name="adj" fmla="val 24000"/>
            </a:avLst>
          </a:prstGeom>
          <a:solidFill>
            <a:srgbClr val="3D2600"/>
          </a:solidFill>
          <a:ln/>
        </p:spPr>
      </p:sp>
      <p:sp>
        <p:nvSpPr>
          <p:cNvPr id="16" name="Text 14"/>
          <p:cNvSpPr/>
          <p:nvPr/>
        </p:nvSpPr>
        <p:spPr>
          <a:xfrm>
            <a:off x="1657350" y="4819650"/>
            <a:ext cx="261944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🦅 águila ___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4641056" y="4705350"/>
            <a:ext cx="3013174" cy="714375"/>
          </a:xfrm>
          <a:prstGeom prst="roundRect">
            <a:avLst>
              <a:gd name="adj" fmla="val 24000"/>
            </a:avLst>
          </a:prstGeom>
          <a:solidFill>
            <a:srgbClr val="3D26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26806" y="4819650"/>
            <a:ext cx="253206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🐷 cerdo ___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52500" y="6143625"/>
            <a:ext cx="15125700" cy="1047750"/>
          </a:xfrm>
          <a:prstGeom prst="roundRect">
            <a:avLst>
              <a:gd name="adj" fmla="val 25455"/>
            </a:avLst>
          </a:prstGeom>
          <a:solidFill>
            <a:srgbClr val="553D76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64484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Dibuja el ciclo de vida de tu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animal favorito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sus 4 etapas.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EA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¿En qué se diferencian los ovíparos de los vivíparos?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EEB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da un ejemplo de cada uno.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8315771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780324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exploraste la naturaleza como un científico!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2026-07-21T12:01:05Z</dcterms:created>
  <dcterms:modified xsi:type="dcterms:W3CDTF">2026-07-21T12:01:05Z</dcterms:modified>
</cp:coreProperties>
</file>