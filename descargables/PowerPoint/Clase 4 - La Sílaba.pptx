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di tu nombre aplaudiendo cada pedacito (Ma-ría, Car-los). ¿Cuántos aplausos tiene tu nombre? Juega con 4 o 5 nombres del salón.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8 de Lenguaje. Hoy la palabra clave es APLAUDIR: cada aplauso es una sílaba.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sílaba. Antes del copiado, aplaudan juntos: ca-sa (2), pe-lo-ta (3), sol (1).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Clasificación por número de sílabas: la tabla de 4 familias. Aplaudan un ejemplo de cada familia antes de copiar.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para copiar con la separación. Los niños copian la tabla y agregan una palabra propia por familia.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flor (1, mono), mesa (me-sa, 2, bi), tomate (to-ma-te, 3, tri), elefante (e-le-fan-te, 4, poli), pan (1, mono), camisa (ca-mi-sa, 3, tri). Corrige aplaudiendo cada palabra con todo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la sílaba es cada golpe de voz. Aplaudan juntos «mariposa» y pregunten de qué familia es.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6EA11E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6" name="Shape 4"/>
          <p:cNvSpPr/>
          <p:nvPr/>
        </p:nvSpPr>
        <p:spPr>
          <a:xfrm>
            <a:off x="6948785" y="2757488"/>
            <a:ext cx="4390281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93069" y="2909888"/>
            <a:ext cx="16459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ESPAÑOL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978503" y="2909888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238818" y="2909888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691344" y="3795713"/>
            <a:ext cx="690516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474"/>
              </a:lnSpc>
              <a:buNone/>
            </a:pPr>
            <a:r>
              <a:rPr lang="en-US" sz="12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Sílaba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3700946" y="5662613"/>
            <a:ext cx="1088595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pedacitos de las palabras · ¡Aplaude conmigo!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6354068" y="6577013"/>
            <a:ext cx="1466552" cy="952500"/>
          </a:xfrm>
          <a:prstGeom prst="roundRect">
            <a:avLst>
              <a:gd name="adj" fmla="val 24000"/>
            </a:avLst>
          </a:prstGeom>
          <a:solidFill>
            <a:srgbClr val="970005"/>
          </a:solidFill>
          <a:ln/>
        </p:spPr>
      </p:sp>
      <p:sp>
        <p:nvSpPr>
          <p:cNvPr id="13" name="Text 11"/>
          <p:cNvSpPr/>
          <p:nvPr/>
        </p:nvSpPr>
        <p:spPr>
          <a:xfrm>
            <a:off x="6658868" y="6710362"/>
            <a:ext cx="8569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7973020" y="6577013"/>
            <a:ext cx="1065907" cy="952500"/>
          </a:xfrm>
          <a:prstGeom prst="roundRect">
            <a:avLst>
              <a:gd name="adj" fmla="val 24000"/>
            </a:avLst>
          </a:prstGeom>
          <a:solidFill>
            <a:srgbClr val="7F5D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7820" y="6710362"/>
            <a:ext cx="4563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ri</a:t>
            </a:r>
            <a:endParaRPr lang="en-US" sz="4500" dirty="0"/>
          </a:p>
        </p:txBody>
      </p:sp>
      <p:sp>
        <p:nvSpPr>
          <p:cNvPr id="16" name="Shape 14"/>
          <p:cNvSpPr/>
          <p:nvPr/>
        </p:nvSpPr>
        <p:spPr>
          <a:xfrm>
            <a:off x="9191327" y="6577013"/>
            <a:ext cx="1320850" cy="952500"/>
          </a:xfrm>
          <a:prstGeom prst="roundRect">
            <a:avLst>
              <a:gd name="adj" fmla="val 24000"/>
            </a:avLst>
          </a:prstGeom>
          <a:solidFill>
            <a:srgbClr val="6EA11E"/>
          </a:solidFill>
          <a:ln/>
        </p:spPr>
      </p:sp>
      <p:sp>
        <p:nvSpPr>
          <p:cNvPr id="17" name="Text 15"/>
          <p:cNvSpPr/>
          <p:nvPr/>
        </p:nvSpPr>
        <p:spPr>
          <a:xfrm>
            <a:off x="9496127" y="6710362"/>
            <a:ext cx="7112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10664577" y="6577013"/>
            <a:ext cx="1269355" cy="952500"/>
          </a:xfrm>
          <a:prstGeom prst="roundRect">
            <a:avLst>
              <a:gd name="adj" fmla="val 24000"/>
            </a:avLst>
          </a:prstGeom>
          <a:solidFill>
            <a:srgbClr val="14689D"/>
          </a:solidFill>
          <a:ln/>
        </p:spPr>
      </p:sp>
      <p:sp>
        <p:nvSpPr>
          <p:cNvPr id="19" name="Text 17"/>
          <p:cNvSpPr/>
          <p:nvPr/>
        </p:nvSpPr>
        <p:spPr>
          <a:xfrm>
            <a:off x="10969377" y="6710362"/>
            <a:ext cx="6597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79090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Separar palabras en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sílabas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aplausos.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781539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Contar cuántas sílabas tiene una palabra.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256907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Clasificar palabras: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monosílabas, bisílabas, trisílabas y polisílabas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español, lápiz y tus manos para aplaudir.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sílaba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52500" y="30289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1527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sílaba es cada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golpe de voz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damos al decir una palabra. ¡Cada aplauso es una sílaba!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800600"/>
            <a:ext cx="983605" cy="742950"/>
          </a:xfrm>
          <a:prstGeom prst="roundRect">
            <a:avLst>
              <a:gd name="adj" fmla="val 23077"/>
            </a:avLst>
          </a:prstGeom>
          <a:solidFill>
            <a:srgbClr val="970005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4895850"/>
            <a:ext cx="56450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031355" y="4800600"/>
            <a:ext cx="962174" cy="742950"/>
          </a:xfrm>
          <a:prstGeom prst="roundRect">
            <a:avLst>
              <a:gd name="adj" fmla="val 23077"/>
            </a:avLst>
          </a:prstGeom>
          <a:solidFill>
            <a:srgbClr val="7F5D00"/>
          </a:solidFill>
          <a:ln/>
        </p:spPr>
      </p:sp>
      <p:sp>
        <p:nvSpPr>
          <p:cNvPr id="10" name="Text 8"/>
          <p:cNvSpPr/>
          <p:nvPr/>
        </p:nvSpPr>
        <p:spPr>
          <a:xfrm>
            <a:off x="2279005" y="4895850"/>
            <a:ext cx="5430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3079" y="4967288"/>
            <a:ext cx="28171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= 2 aplausos 👏👏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145113" y="4800600"/>
            <a:ext cx="993279" cy="742950"/>
          </a:xfrm>
          <a:prstGeom prst="roundRect">
            <a:avLst>
              <a:gd name="adj" fmla="val 23077"/>
            </a:avLst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6392763" y="4895850"/>
            <a:ext cx="57417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233642" y="4800600"/>
            <a:ext cx="888504" cy="742950"/>
          </a:xfrm>
          <a:prstGeom prst="roundRect">
            <a:avLst>
              <a:gd name="adj" fmla="val 23077"/>
            </a:avLst>
          </a:prstGeom>
          <a:solidFill>
            <a:srgbClr val="14689D"/>
          </a:solidFill>
          <a:ln/>
        </p:spPr>
      </p:sp>
      <p:sp>
        <p:nvSpPr>
          <p:cNvPr id="15" name="Text 13"/>
          <p:cNvSpPr/>
          <p:nvPr/>
        </p:nvSpPr>
        <p:spPr>
          <a:xfrm>
            <a:off x="7481292" y="4895850"/>
            <a:ext cx="46940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217396" y="4800600"/>
            <a:ext cx="940743" cy="742950"/>
          </a:xfrm>
          <a:prstGeom prst="roundRect">
            <a:avLst>
              <a:gd name="adj" fmla="val 23077"/>
            </a:avLst>
          </a:prstGeom>
          <a:solidFill>
            <a:srgbClr val="553D76"/>
          </a:solidFill>
          <a:ln/>
        </p:spPr>
      </p:sp>
      <p:sp>
        <p:nvSpPr>
          <p:cNvPr id="17" name="Text 15"/>
          <p:cNvSpPr/>
          <p:nvPr/>
        </p:nvSpPr>
        <p:spPr>
          <a:xfrm>
            <a:off x="8465046" y="4895850"/>
            <a:ext cx="52164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367689" y="4967288"/>
            <a:ext cx="32267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= 3 aplausos 👏👏👏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4 familias de palabras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3638550" cy="2438400"/>
          </a:xfrm>
          <a:prstGeom prst="roundRect">
            <a:avLst>
              <a:gd name="adj" fmla="val 9375"/>
            </a:avLst>
          </a:prstGeom>
          <a:solidFill>
            <a:srgbClr val="400507"/>
          </a:solidFill>
          <a:ln/>
        </p:spPr>
      </p:sp>
      <p:sp>
        <p:nvSpPr>
          <p:cNvPr id="6" name="Text 4"/>
          <p:cNvSpPr/>
          <p:nvPr/>
        </p:nvSpPr>
        <p:spPr>
          <a:xfrm>
            <a:off x="1022033" y="3095625"/>
            <a:ext cx="34994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MONOSÍLABAS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2033" y="3571875"/>
            <a:ext cx="34994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sílaba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2033" y="3990975"/>
            <a:ext cx="349948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sol · pan · mar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22033" y="4610100"/>
            <a:ext cx="349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👏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819650" y="2809875"/>
            <a:ext cx="3638550" cy="2438400"/>
          </a:xfrm>
          <a:prstGeom prst="roundRect">
            <a:avLst>
              <a:gd name="adj" fmla="val 9375"/>
            </a:avLst>
          </a:prstGeom>
          <a:solidFill>
            <a:srgbClr val="392800"/>
          </a:solidFill>
          <a:ln/>
        </p:spPr>
      </p:sp>
      <p:sp>
        <p:nvSpPr>
          <p:cNvPr id="11" name="Text 9"/>
          <p:cNvSpPr/>
          <p:nvPr/>
        </p:nvSpPr>
        <p:spPr>
          <a:xfrm>
            <a:off x="4889183" y="3095625"/>
            <a:ext cx="34994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5BC4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BISÍLABAS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89183" y="3571875"/>
            <a:ext cx="34994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sílabas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89183" y="3990975"/>
            <a:ext cx="349948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ca-sa · ga-to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889183" y="4610100"/>
            <a:ext cx="349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👏👏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686800" y="2809875"/>
            <a:ext cx="3638550" cy="2438400"/>
          </a:xfrm>
          <a:prstGeom prst="roundRect">
            <a:avLst>
              <a:gd name="adj" fmla="val 9375"/>
            </a:avLst>
          </a:prstGeom>
          <a:solidFill>
            <a:srgbClr val="25300C"/>
          </a:solidFill>
          <a:ln/>
        </p:spPr>
      </p:sp>
      <p:sp>
        <p:nvSpPr>
          <p:cNvPr id="16" name="Text 14"/>
          <p:cNvSpPr/>
          <p:nvPr/>
        </p:nvSpPr>
        <p:spPr>
          <a:xfrm>
            <a:off x="8756333" y="3095625"/>
            <a:ext cx="34994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0E26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TRISÍLABAS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756333" y="3571875"/>
            <a:ext cx="34994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sílabas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56333" y="3990975"/>
            <a:ext cx="349948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pe-lo-ta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756333" y="4610100"/>
            <a:ext cx="349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👏👏👏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553950" y="2809875"/>
            <a:ext cx="3638550" cy="2438400"/>
          </a:xfrm>
          <a:prstGeom prst="roundRect">
            <a:avLst>
              <a:gd name="adj" fmla="val 9375"/>
            </a:avLst>
          </a:prstGeom>
          <a:solidFill>
            <a:srgbClr val="212425"/>
          </a:solidFill>
          <a:ln/>
        </p:spPr>
      </p:sp>
      <p:sp>
        <p:nvSpPr>
          <p:cNvPr id="21" name="Text 19"/>
          <p:cNvSpPr/>
          <p:nvPr/>
        </p:nvSpPr>
        <p:spPr>
          <a:xfrm>
            <a:off x="12623483" y="3095625"/>
            <a:ext cx="349948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POLISÍLABAS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623483" y="3571875"/>
            <a:ext cx="34994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o más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623483" y="3990975"/>
            <a:ext cx="349948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ma-ri-po-sa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2623483" y="4610100"/>
            <a:ext cx="349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👏👏👏👏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Separo palabras en sílabas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15106650" cy="2914650"/>
          </a:xfrm>
          <a:prstGeom prst="roundRect">
            <a:avLst>
              <a:gd name="adj" fmla="val 653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71800"/>
            <a:ext cx="147161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luz → luz </a:t>
            </a:r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(1 sílaba: monosílaba)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62075" y="3619500"/>
            <a:ext cx="147161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perro → pe - rro </a:t>
            </a:r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(2 sílabas: bisílaba)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362075" y="4267200"/>
            <a:ext cx="147161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escuela → es - cue - la </a:t>
            </a:r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(3 sílabas: trisílaba)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362075" y="4914900"/>
            <a:ext cx="147161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chocolate → cho - co - la - te </a:t>
            </a:r>
            <a:pPr algn="l" indent="0" marL="0">
              <a:lnSpc>
                <a:spcPct val="133333"/>
              </a:lnSpc>
              <a:buNone/>
            </a:pPr>
            <a:r>
              <a:rPr lang="en-US" sz="315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(4 sílabas: polisílaba)</a:t>
            </a:r>
            <a:endParaRPr lang="en-US" sz="3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15125700" cy="1962150"/>
          </a:xfrm>
          <a:prstGeom prst="roundRect">
            <a:avLst>
              <a:gd name="adj" fmla="val 1359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76600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Separa en sílabas, cuenta y escribe de qué familia es cada palabra: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819525"/>
            <a:ext cx="1317129" cy="733425"/>
          </a:xfrm>
          <a:prstGeom prst="roundRect">
            <a:avLst>
              <a:gd name="adj" fmla="val 23377"/>
            </a:avLst>
          </a:prstGeom>
          <a:solidFill>
            <a:srgbClr val="400507"/>
          </a:solidFill>
          <a:ln/>
        </p:spPr>
      </p:sp>
      <p:sp>
        <p:nvSpPr>
          <p:cNvPr id="8" name="Text 6"/>
          <p:cNvSpPr/>
          <p:nvPr/>
        </p:nvSpPr>
        <p:spPr>
          <a:xfrm>
            <a:off x="1676400" y="3933825"/>
            <a:ext cx="78372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flor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2860179" y="3819525"/>
            <a:ext cx="1599158" cy="733425"/>
          </a:xfrm>
          <a:prstGeom prst="roundRect">
            <a:avLst>
              <a:gd name="adj" fmla="val 23377"/>
            </a:avLst>
          </a:prstGeom>
          <a:solidFill>
            <a:srgbClr val="392800"/>
          </a:solidFill>
          <a:ln/>
        </p:spPr>
      </p:sp>
      <p:sp>
        <p:nvSpPr>
          <p:cNvPr id="10" name="Text 8"/>
          <p:cNvSpPr/>
          <p:nvPr/>
        </p:nvSpPr>
        <p:spPr>
          <a:xfrm>
            <a:off x="3164979" y="3933825"/>
            <a:ext cx="106575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mesa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4630787" y="3819525"/>
            <a:ext cx="1985963" cy="733425"/>
          </a:xfrm>
          <a:prstGeom prst="roundRect">
            <a:avLst>
              <a:gd name="adj" fmla="val 23377"/>
            </a:avLst>
          </a:prstGeom>
          <a:solidFill>
            <a:srgbClr val="25300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5587" y="3933825"/>
            <a:ext cx="145256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tomate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6788200" y="3819525"/>
            <a:ext cx="2206079" cy="733425"/>
          </a:xfrm>
          <a:prstGeom prst="roundRect">
            <a:avLst>
              <a:gd name="adj" fmla="val 23377"/>
            </a:avLst>
          </a:prstGeom>
          <a:solidFill>
            <a:srgbClr val="212425"/>
          </a:solidFill>
          <a:ln/>
        </p:spPr>
      </p:sp>
      <p:sp>
        <p:nvSpPr>
          <p:cNvPr id="14" name="Text 12"/>
          <p:cNvSpPr/>
          <p:nvPr/>
        </p:nvSpPr>
        <p:spPr>
          <a:xfrm>
            <a:off x="7093000" y="3933825"/>
            <a:ext cx="167267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elefante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165729" y="3819525"/>
            <a:ext cx="1312962" cy="733425"/>
          </a:xfrm>
          <a:prstGeom prst="roundRect">
            <a:avLst>
              <a:gd name="adj" fmla="val 23377"/>
            </a:avLst>
          </a:prstGeom>
          <a:solidFill>
            <a:srgbClr val="1F2223"/>
          </a:solidFill>
          <a:ln/>
        </p:spPr>
      </p:sp>
      <p:sp>
        <p:nvSpPr>
          <p:cNvPr id="16" name="Text 14"/>
          <p:cNvSpPr/>
          <p:nvPr/>
        </p:nvSpPr>
        <p:spPr>
          <a:xfrm>
            <a:off x="9470529" y="3933825"/>
            <a:ext cx="779562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pan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0650141" y="3819525"/>
            <a:ext cx="1923157" cy="733425"/>
          </a:xfrm>
          <a:prstGeom prst="roundRect">
            <a:avLst>
              <a:gd name="adj" fmla="val 23377"/>
            </a:avLst>
          </a:prstGeom>
          <a:solidFill>
            <a:srgbClr val="400507"/>
          </a:solidFill>
          <a:ln/>
        </p:spPr>
      </p:sp>
      <p:sp>
        <p:nvSpPr>
          <p:cNvPr id="18" name="Text 16"/>
          <p:cNvSpPr/>
          <p:nvPr/>
        </p:nvSpPr>
        <p:spPr>
          <a:xfrm>
            <a:off x="10954941" y="3933825"/>
            <a:ext cx="138975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camisa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52500" y="5276850"/>
            <a:ext cx="15125700" cy="1047750"/>
          </a:xfrm>
          <a:prstGeom prst="roundRect">
            <a:avLst>
              <a:gd name="adj" fmla="val 25455"/>
            </a:avLst>
          </a:prstGeom>
          <a:solidFill>
            <a:srgbClr val="553D76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58165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Reto: escribe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palabra tuya de cada familia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(mono, bi, tri y polisílaba).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EA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¿Cuántas sílabas tiene «mariposa» y de qué familia es?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EEB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Aplaude la palabra y levanta la mano.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7802761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727484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aplaudiste como un experto en palabras!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2026-07-21T12:00:35Z</dcterms:created>
  <dcterms:modified xsi:type="dcterms:W3CDTF">2026-07-21T12:00:35Z</dcterms:modified>
</cp:coreProperties>
</file>