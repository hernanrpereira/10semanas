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en inglés: Hello, children! Pregunta detonadora: What toys do you have at home? Muestra un juguete real. Escucha nombres en español y ayúdales a decirlos en inglés.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Guía 22: Conversación en inglés. Recuerda que cada palabra va con su traducción.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Vocabulario de juguetes con traducción. Di cada palabra en inglés y que los niños repitan.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estructura It is a... Practica en coro: It is a car.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estructura I have... Practica en coro: I have a teddy bear.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Colores + juguete: describir. It is a red car.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Escriben la frase para cada juguete y dibujan su juguete favorito con su frase. Corrección en coro.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What toy is it? Muestra un juguete y que respondan It is a... Felicita: Good job!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619500" cy="3619500"/>
          </a:xfrm>
          <a:prstGeom prst="ellipse">
            <a:avLst/>
          </a:prstGeom>
          <a:solidFill>
            <a:srgbClr val="1982C4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00" y="7620000"/>
            <a:ext cx="4000500" cy="40005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15049500" y="1143000"/>
            <a:ext cx="1143001" cy="1143001"/>
          </a:xfrm>
          <a:prstGeom prst="roundRect">
            <a:avLst>
              <a:gd name="adj" fmla="val 23333"/>
            </a:avLst>
          </a:prstGeom>
          <a:solidFill>
            <a:srgbClr val="FF595E"/>
          </a:solidFill>
          <a:ln/>
        </p:spPr>
      </p:sp>
      <p:sp>
        <p:nvSpPr>
          <p:cNvPr id="5" name="Shape 3"/>
          <p:cNvSpPr/>
          <p:nvPr/>
        </p:nvSpPr>
        <p:spPr>
          <a:xfrm>
            <a:off x="1905000" y="7715250"/>
            <a:ext cx="857250" cy="85725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6" name="Shape 4"/>
          <p:cNvSpPr/>
          <p:nvPr/>
        </p:nvSpPr>
        <p:spPr>
          <a:xfrm>
            <a:off x="6265218" y="2705100"/>
            <a:ext cx="5757416" cy="6953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76200" dir="5400000">
              <a:srgbClr val="2A2A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41145" y="2857500"/>
            <a:ext cx="314979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ENGLISH · INGLÉS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662071" y="2857500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922386" y="2857500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51391" y="3743325"/>
            <a:ext cx="5785217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2873"/>
              </a:lnSpc>
              <a:buNone/>
            </a:pPr>
            <a:r>
              <a:rPr lang="en-US" sz="112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My Toys</a:t>
            </a:r>
            <a:endParaRPr lang="en-US" sz="11250" dirty="0"/>
          </a:p>
        </p:txBody>
      </p:sp>
      <p:sp>
        <p:nvSpPr>
          <p:cNvPr id="11" name="Text 9"/>
          <p:cNvSpPr/>
          <p:nvPr/>
        </p:nvSpPr>
        <p:spPr>
          <a:xfrm>
            <a:off x="5638949" y="5514975"/>
            <a:ext cx="701010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Mis juguetes · «It is a…» / «I have…»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032004" y="6372225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22504" y="6486525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🚗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7640389" y="6372225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30889" y="6486525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🧸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9248775" y="6372225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39275" y="6486525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⚽</a:t>
            </a:r>
            <a:endParaRPr lang="en-US" sz="5400" dirty="0"/>
          </a:p>
        </p:txBody>
      </p:sp>
      <p:sp>
        <p:nvSpPr>
          <p:cNvPr id="18" name="Shape 16"/>
          <p:cNvSpPr/>
          <p:nvPr/>
        </p:nvSpPr>
        <p:spPr>
          <a:xfrm>
            <a:off x="10857161" y="6372225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047661" y="6486525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🪁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What will we learn today? · ¿Qué aprenderemos?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324100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590800"/>
            <a:ext cx="723900" cy="7239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59080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19388"/>
            <a:ext cx="97593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Aprender los nombres de los </a:t>
            </a:r>
            <a:pPr algn="l" indent="0" marL="0">
              <a:buNone/>
            </a:pPr>
            <a:r>
              <a:rPr lang="en-US" sz="270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juguetes (toys) </a:t>
            </a:r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 inglés.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52500" y="3848100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14800"/>
            <a:ext cx="723900" cy="7239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1480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43388"/>
            <a:ext cx="976306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Decir </a:t>
            </a:r>
            <a:pPr algn="l" indent="0" marL="0">
              <a:buNone/>
            </a:pPr>
            <a:r>
              <a:rPr lang="en-US" sz="270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«It is a…» </a:t>
            </a:r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(Es un/una…) para nombrar un juguete.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52500" y="5372100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38800"/>
            <a:ext cx="723900" cy="7239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3880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767388"/>
            <a:ext cx="10224567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Decir </a:t>
            </a:r>
            <a:pPr algn="l" indent="0" marL="0">
              <a:buNone/>
            </a:pPr>
            <a:r>
              <a:rPr lang="en-US" sz="270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«I have…» </a:t>
            </a:r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(Yo tengo…) para hablar de mis juguetes.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52500" y="7124700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You need · Necesitas: cuaderno de inglés, lápiz y colores.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66750"/>
            <a:ext cx="595580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00100"/>
            <a:ext cx="556297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WRITE IN YOUR NOTEBOOK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54305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Toys · Los juguetes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476500"/>
            <a:ext cx="5124450" cy="990600"/>
          </a:xfrm>
          <a:prstGeom prst="roundRect">
            <a:avLst>
              <a:gd name="adj" fmla="val 19231"/>
            </a:avLst>
          </a:prstGeom>
          <a:solidFill>
            <a:srgbClr val="FDE3E4"/>
          </a:solidFill>
          <a:ln/>
        </p:spPr>
      </p:sp>
      <p:sp>
        <p:nvSpPr>
          <p:cNvPr id="6" name="Text 4"/>
          <p:cNvSpPr/>
          <p:nvPr/>
        </p:nvSpPr>
        <p:spPr>
          <a:xfrm>
            <a:off x="1181100" y="2628900"/>
            <a:ext cx="73015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🚗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1987451" y="2633663"/>
            <a:ext cx="58697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car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987451" y="3024188"/>
            <a:ext cx="58697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carro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248400" y="2476500"/>
            <a:ext cx="5124450" cy="990600"/>
          </a:xfrm>
          <a:prstGeom prst="roundRect">
            <a:avLst>
              <a:gd name="adj" fmla="val 19231"/>
            </a:avLst>
          </a:prstGeom>
          <a:solidFill>
            <a:srgbClr val="E3F0FA"/>
          </a:solidFill>
          <a:ln/>
        </p:spPr>
      </p:sp>
      <p:sp>
        <p:nvSpPr>
          <p:cNvPr id="10" name="Text 8"/>
          <p:cNvSpPr/>
          <p:nvPr/>
        </p:nvSpPr>
        <p:spPr>
          <a:xfrm>
            <a:off x="6477000" y="2628900"/>
            <a:ext cx="73015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🧸</a:t>
            </a:r>
            <a:endParaRPr lang="en-US" sz="3750" dirty="0"/>
          </a:p>
        </p:txBody>
      </p:sp>
      <p:sp>
        <p:nvSpPr>
          <p:cNvPr id="11" name="Text 9"/>
          <p:cNvSpPr/>
          <p:nvPr/>
        </p:nvSpPr>
        <p:spPr>
          <a:xfrm>
            <a:off x="7283351" y="2633663"/>
            <a:ext cx="176136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teddy bear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7283351" y="3024188"/>
            <a:ext cx="176136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osito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1544300" y="2476500"/>
            <a:ext cx="5124450" cy="990600"/>
          </a:xfrm>
          <a:prstGeom prst="roundRect">
            <a:avLst>
              <a:gd name="adj" fmla="val 19231"/>
            </a:avLst>
          </a:prstGeom>
          <a:solidFill>
            <a:srgbClr val="E9F5D8"/>
          </a:solidFill>
          <a:ln/>
        </p:spPr>
      </p:sp>
      <p:sp>
        <p:nvSpPr>
          <p:cNvPr id="14" name="Text 12"/>
          <p:cNvSpPr/>
          <p:nvPr/>
        </p:nvSpPr>
        <p:spPr>
          <a:xfrm>
            <a:off x="11772900" y="2628900"/>
            <a:ext cx="73015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⚽</a:t>
            </a:r>
            <a:endParaRPr lang="en-US" sz="3750" dirty="0"/>
          </a:p>
        </p:txBody>
      </p:sp>
      <p:sp>
        <p:nvSpPr>
          <p:cNvPr id="15" name="Text 13"/>
          <p:cNvSpPr/>
          <p:nvPr/>
        </p:nvSpPr>
        <p:spPr>
          <a:xfrm>
            <a:off x="12579251" y="2633663"/>
            <a:ext cx="71169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6FA31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ball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579251" y="3024188"/>
            <a:ext cx="71169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pelota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52500" y="3638550"/>
            <a:ext cx="5124450" cy="990600"/>
          </a:xfrm>
          <a:prstGeom prst="roundRect">
            <a:avLst>
              <a:gd name="adj" fmla="val 19231"/>
            </a:avLst>
          </a:prstGeom>
          <a:solidFill>
            <a:srgbClr val="FFF3D6"/>
          </a:solidFill>
          <a:ln/>
        </p:spPr>
      </p:sp>
      <p:sp>
        <p:nvSpPr>
          <p:cNvPr id="18" name="Text 16"/>
          <p:cNvSpPr/>
          <p:nvPr/>
        </p:nvSpPr>
        <p:spPr>
          <a:xfrm>
            <a:off x="1181100" y="3790950"/>
            <a:ext cx="73015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🪁</a:t>
            </a:r>
            <a:endParaRPr lang="en-US" sz="3750" dirty="0"/>
          </a:p>
        </p:txBody>
      </p:sp>
      <p:sp>
        <p:nvSpPr>
          <p:cNvPr id="19" name="Text 17"/>
          <p:cNvSpPr/>
          <p:nvPr/>
        </p:nvSpPr>
        <p:spPr>
          <a:xfrm>
            <a:off x="1987451" y="3795713"/>
            <a:ext cx="7998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C89B1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kite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987451" y="4186238"/>
            <a:ext cx="7998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cometa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6248400" y="3638550"/>
            <a:ext cx="5124450" cy="990600"/>
          </a:xfrm>
          <a:prstGeom prst="roundRect">
            <a:avLst>
              <a:gd name="adj" fmla="val 19231"/>
            </a:avLst>
          </a:prstGeom>
          <a:solidFill>
            <a:srgbClr val="F1EAFB"/>
          </a:solidFill>
          <a:ln/>
        </p:spPr>
      </p:sp>
      <p:sp>
        <p:nvSpPr>
          <p:cNvPr id="22" name="Text 20"/>
          <p:cNvSpPr/>
          <p:nvPr/>
        </p:nvSpPr>
        <p:spPr>
          <a:xfrm>
            <a:off x="6477000" y="3790950"/>
            <a:ext cx="73015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🪆</a:t>
            </a:r>
            <a:endParaRPr lang="en-US" sz="3750" dirty="0"/>
          </a:p>
        </p:txBody>
      </p:sp>
      <p:sp>
        <p:nvSpPr>
          <p:cNvPr id="23" name="Text 21"/>
          <p:cNvSpPr/>
          <p:nvPr/>
        </p:nvSpPr>
        <p:spPr>
          <a:xfrm>
            <a:off x="7283351" y="3795713"/>
            <a:ext cx="84236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doll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7283351" y="4186238"/>
            <a:ext cx="84236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muñeca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544300" y="3638550"/>
            <a:ext cx="5124450" cy="990600"/>
          </a:xfrm>
          <a:prstGeom prst="roundRect">
            <a:avLst>
              <a:gd name="adj" fmla="val 19231"/>
            </a:avLst>
          </a:prstGeom>
          <a:solidFill>
            <a:srgbClr val="FDE3E4"/>
          </a:solidFill>
          <a:ln/>
        </p:spPr>
      </p:sp>
      <p:sp>
        <p:nvSpPr>
          <p:cNvPr id="26" name="Text 24"/>
          <p:cNvSpPr/>
          <p:nvPr/>
        </p:nvSpPr>
        <p:spPr>
          <a:xfrm>
            <a:off x="11772900" y="3790950"/>
            <a:ext cx="73015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🚂</a:t>
            </a:r>
            <a:endParaRPr lang="en-US" sz="3750" dirty="0"/>
          </a:p>
        </p:txBody>
      </p:sp>
      <p:sp>
        <p:nvSpPr>
          <p:cNvPr id="27" name="Text 25"/>
          <p:cNvSpPr/>
          <p:nvPr/>
        </p:nvSpPr>
        <p:spPr>
          <a:xfrm>
            <a:off x="12579251" y="3795713"/>
            <a:ext cx="77807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train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12579251" y="4186238"/>
            <a:ext cx="7780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tren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95580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56297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WRITE IN YOUR NOTEBOOK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«It is a…» · Es un / una…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62250"/>
            <a:ext cx="15106650" cy="819150"/>
          </a:xfrm>
          <a:prstGeom prst="roundRect">
            <a:avLst>
              <a:gd name="adj" fmla="val 23256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BFD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2886075"/>
            <a:ext cx="157162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Usamos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It is a…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decir qué es un juguete. En español: «Es un / una…».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924300"/>
            <a:ext cx="3104852" cy="1181100"/>
          </a:xfrm>
          <a:prstGeom prst="roundRect">
            <a:avLst>
              <a:gd name="adj" fmla="val 19355"/>
            </a:avLst>
          </a:prstGeom>
          <a:solidFill>
            <a:srgbClr val="FFF9EF"/>
          </a:solidFill>
          <a:ln/>
        </p:spPr>
      </p:sp>
      <p:sp>
        <p:nvSpPr>
          <p:cNvPr id="8" name="Text 6"/>
          <p:cNvSpPr/>
          <p:nvPr/>
        </p:nvSpPr>
        <p:spPr>
          <a:xfrm>
            <a:off x="1276350" y="4133850"/>
            <a:ext cx="808583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⚽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180183" y="4157663"/>
            <a:ext cx="170865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It is a ball.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2180183" y="4567238"/>
            <a:ext cx="17086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 una pelota.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85952" y="3924300"/>
            <a:ext cx="2995464" cy="1181100"/>
          </a:xfrm>
          <a:prstGeom prst="roundRect">
            <a:avLst>
              <a:gd name="adj" fmla="val 19355"/>
            </a:avLst>
          </a:prstGeom>
          <a:solidFill>
            <a:srgbClr val="FF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4609802" y="4133850"/>
            <a:ext cx="808583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🚗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5513636" y="4157663"/>
            <a:ext cx="158832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It is a car.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513636" y="4567238"/>
            <a:ext cx="158832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 un carro.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95580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56297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WRITE IN YOUR NOTEBOOK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«I have…» · Yo tengo…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62250"/>
            <a:ext cx="15106650" cy="819150"/>
          </a:xfrm>
          <a:prstGeom prst="roundRect">
            <a:avLst>
              <a:gd name="adj" fmla="val 23256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BFD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2886075"/>
            <a:ext cx="157162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Usamos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 have…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decir qué juguetes tenemos. En español: «Yo tengo…».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924300"/>
            <a:ext cx="4547146" cy="1181100"/>
          </a:xfrm>
          <a:prstGeom prst="roundRect">
            <a:avLst>
              <a:gd name="adj" fmla="val 19355"/>
            </a:avLst>
          </a:prstGeom>
          <a:solidFill>
            <a:srgbClr val="FFF9EF"/>
          </a:solidFill>
          <a:ln/>
        </p:spPr>
      </p:sp>
      <p:sp>
        <p:nvSpPr>
          <p:cNvPr id="8" name="Text 6"/>
          <p:cNvSpPr/>
          <p:nvPr/>
        </p:nvSpPr>
        <p:spPr>
          <a:xfrm>
            <a:off x="1276350" y="4133850"/>
            <a:ext cx="808583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🧸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180183" y="4157663"/>
            <a:ext cx="329517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 have a teddy bear.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2180183" y="4567238"/>
            <a:ext cx="329517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Yo tengo un osito.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28246" y="3924300"/>
            <a:ext cx="3877419" cy="1181100"/>
          </a:xfrm>
          <a:prstGeom prst="roundRect">
            <a:avLst>
              <a:gd name="adj" fmla="val 19355"/>
            </a:avLst>
          </a:prstGeom>
          <a:solidFill>
            <a:srgbClr val="FF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6052096" y="4133850"/>
            <a:ext cx="808583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🪁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955929" y="4157663"/>
            <a:ext cx="25584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 have a kite.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955929" y="4567238"/>
            <a:ext cx="25584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Yo tengo una cometa.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95580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56297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WRITE IN YOUR NOTEBOOK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Describe with colors · Describe con colores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468934" cy="514350"/>
          </a:xfrm>
          <a:prstGeom prst="roundRect">
            <a:avLst>
              <a:gd name="adj" fmla="val 29630"/>
            </a:avLst>
          </a:prstGeom>
          <a:solidFill>
            <a:srgbClr val="FF595E"/>
          </a:solidFill>
          <a:ln/>
        </p:spPr>
      </p:sp>
      <p:sp>
        <p:nvSpPr>
          <p:cNvPr id="6" name="Text 4"/>
          <p:cNvSpPr/>
          <p:nvPr/>
        </p:nvSpPr>
        <p:spPr>
          <a:xfrm>
            <a:off x="1162050" y="2819400"/>
            <a:ext cx="112603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red · rojo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611934" y="2724150"/>
            <a:ext cx="1645741" cy="514350"/>
          </a:xfrm>
          <a:prstGeom prst="roundRect">
            <a:avLst>
              <a:gd name="adj" fmla="val 29630"/>
            </a:avLst>
          </a:prstGeom>
          <a:solidFill>
            <a:srgbClr val="1982C4"/>
          </a:solidFill>
          <a:ln/>
        </p:spPr>
      </p:sp>
      <p:sp>
        <p:nvSpPr>
          <p:cNvPr id="8" name="Text 6"/>
          <p:cNvSpPr/>
          <p:nvPr/>
        </p:nvSpPr>
        <p:spPr>
          <a:xfrm>
            <a:off x="2821484" y="2819400"/>
            <a:ext cx="130284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blue · azul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448175" y="2724150"/>
            <a:ext cx="1975842" cy="514350"/>
          </a:xfrm>
          <a:prstGeom prst="roundRect">
            <a:avLst>
              <a:gd name="adj" fmla="val 29630"/>
            </a:avLst>
          </a:prstGeom>
          <a:solidFill>
            <a:srgbClr val="8AC926"/>
          </a:solidFill>
          <a:ln/>
        </p:spPr>
      </p:sp>
      <p:sp>
        <p:nvSpPr>
          <p:cNvPr id="10" name="Text 8"/>
          <p:cNvSpPr/>
          <p:nvPr/>
        </p:nvSpPr>
        <p:spPr>
          <a:xfrm>
            <a:off x="4657725" y="2819400"/>
            <a:ext cx="163294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green · verde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614517" y="2724150"/>
            <a:ext cx="2383631" cy="514350"/>
          </a:xfrm>
          <a:prstGeom prst="roundRect">
            <a:avLst>
              <a:gd name="adj" fmla="val 29630"/>
            </a:avLst>
          </a:prstGeom>
          <a:solidFill>
            <a:srgbClr val="FFCA3A"/>
          </a:solidFill>
          <a:ln/>
        </p:spPr>
      </p:sp>
      <p:sp>
        <p:nvSpPr>
          <p:cNvPr id="12" name="Text 10"/>
          <p:cNvSpPr/>
          <p:nvPr/>
        </p:nvSpPr>
        <p:spPr>
          <a:xfrm>
            <a:off x="6824067" y="2819400"/>
            <a:ext cx="204073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yellow · amarillo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52500" y="3638550"/>
            <a:ext cx="15582900" cy="1428750"/>
          </a:xfrm>
          <a:prstGeom prst="roundRect">
            <a:avLst>
              <a:gd name="adj" fmla="val 16000"/>
            </a:avLst>
          </a:prstGeom>
          <a:solidFill>
            <a:srgbClr val="FFF9EF"/>
          </a:solidFill>
          <a:ln w="28575">
            <a:solidFill>
              <a:srgbClr val="FFC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62075" y="3914775"/>
            <a:ext cx="913209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🚗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2427684" y="3957638"/>
            <a:ext cx="584104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It is a red car. / I have a red car.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427684" y="4414838"/>
            <a:ext cx="584104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 un carro rojo. / Yo tengo un carro rojo.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380708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00062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NOW YOU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145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Let's practice! · ¡A practicar!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5601950" cy="20669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3009900"/>
            <a:ext cx="1624012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Escribe «It is a…» para cada juguete: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297184" y="3533775"/>
            <a:ext cx="183962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⚽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2297184" y="4229100"/>
            <a:ext cx="18396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It is a ______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88122" y="3533775"/>
            <a:ext cx="183962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🧸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5988122" y="4229100"/>
            <a:ext cx="18396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It is a ______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79059" y="3533775"/>
            <a:ext cx="183962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🪁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679059" y="4229100"/>
            <a:ext cx="18396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It is a ______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369997" y="3533775"/>
            <a:ext cx="183962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🚂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13369997" y="4229100"/>
            <a:ext cx="18396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It is a ______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52500" y="5114925"/>
            <a:ext cx="15601950" cy="904875"/>
          </a:xfrm>
          <a:prstGeom prst="roundRect">
            <a:avLst>
              <a:gd name="adj" fmla="val 29474"/>
            </a:avLst>
          </a:prstGeom>
          <a:solidFill>
            <a:srgbClr val="6A4C93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5362575"/>
            <a:ext cx="1624012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Dibuja tu juguete favorito y escribe: </a:t>
            </a:r>
            <a:pPr algn="l" indent="0" marL="0">
              <a:buNone/>
            </a:pPr>
            <a:r>
              <a:rPr lang="en-US" sz="240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«I have a ______.»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82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998440"/>
            <a:ext cx="4658320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3131790"/>
            <a:ext cx="422657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 FINISH · 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4084290"/>
            <a:ext cx="16764000" cy="1089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359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What toy is it? Say «It is a…»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52500" y="5592961"/>
            <a:ext cx="180213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BFDCF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¿Qué juguete es? Di «It is a…» (Es un/una…).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52500" y="6535936"/>
            <a:ext cx="4603254" cy="752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6707386"/>
            <a:ext cx="397935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Good job! · ¡Buen trabajo!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2026-07-26T16:21:54Z</dcterms:created>
  <dcterms:modified xsi:type="dcterms:W3CDTF">2026-07-26T16:21:54Z</dcterms:modified>
</cp:coreProperties>
</file>