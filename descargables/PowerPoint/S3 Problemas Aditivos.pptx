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en una fiesta hay 45 niños; llegan 20 más y se van 15. ¿Cuántos quedan? ¿Qué operaciones usarías?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DBA 1 de Matemáticas: resolver problemas aditivos de composición y transformación.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4 pasos para resolver un problema.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Palabras clave que indican sumar o restar.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resuelto paso a paso: un problema de dos operaciones. Los niños copian el modelo.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recordatorio clave: siempre respondo con una frase.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Respuestas: a) 215+130=345 canicas. b) 180−65=115 páginas. c) 240+60−90=210 galletas. Corrección colectiva en el tablero.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¿cómo sé si un problema se resuelve sumando o restando? Repasa las palabras pista.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FF595E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6" name="Shape 4"/>
          <p:cNvSpPr/>
          <p:nvPr/>
        </p:nvSpPr>
        <p:spPr>
          <a:xfrm>
            <a:off x="6631781" y="2419350"/>
            <a:ext cx="5024438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4358" y="2571750"/>
            <a:ext cx="234352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MATEMÁTICA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295656" y="2571750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55971" y="2571750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575425" y="3457575"/>
            <a:ext cx="5137001" cy="2238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842"/>
              </a:lnSpc>
              <a:buNone/>
            </a:pPr>
            <a:r>
              <a:rPr lang="en-US" sz="82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Resuelvo Problemas</a:t>
            </a:r>
            <a:endParaRPr lang="en-US" sz="8250" dirty="0"/>
          </a:p>
        </p:txBody>
      </p:sp>
      <p:sp>
        <p:nvSpPr>
          <p:cNvPr id="11" name="Text 9"/>
          <p:cNvSpPr/>
          <p:nvPr/>
        </p:nvSpPr>
        <p:spPr>
          <a:xfrm>
            <a:off x="3517910" y="6000750"/>
            <a:ext cx="1125218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Sumas y restas juntas · ¡Soy detective matemático! 🔍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7524750" y="6915150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7486650" y="6915150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+</a:t>
            </a:r>
            <a:endParaRPr lang="en-US" sz="4500" dirty="0"/>
          </a:p>
        </p:txBody>
      </p:sp>
      <p:sp>
        <p:nvSpPr>
          <p:cNvPr id="14" name="Shape 12"/>
          <p:cNvSpPr/>
          <p:nvPr/>
        </p:nvSpPr>
        <p:spPr>
          <a:xfrm>
            <a:off x="8667750" y="6915150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FFCA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29650" y="6915150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?</a:t>
            </a:r>
            <a:endParaRPr lang="en-US" sz="4500" dirty="0"/>
          </a:p>
        </p:txBody>
      </p:sp>
      <p:sp>
        <p:nvSpPr>
          <p:cNvPr id="16" name="Shape 14"/>
          <p:cNvSpPr/>
          <p:nvPr/>
        </p:nvSpPr>
        <p:spPr>
          <a:xfrm>
            <a:off x="9810750" y="6915150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FF595E"/>
          </a:solidFill>
          <a:ln/>
        </p:spPr>
      </p:sp>
      <p:sp>
        <p:nvSpPr>
          <p:cNvPr id="17" name="Text 15"/>
          <p:cNvSpPr/>
          <p:nvPr/>
        </p:nvSpPr>
        <p:spPr>
          <a:xfrm>
            <a:off x="9772650" y="6915150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−</a:t>
            </a:r>
            <a:endParaRPr lang="en-US" sz="4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846876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Leer un problema y saber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qué me preguntan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956252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Decidir si </a:t>
            </a:r>
            <a:pPr algn="l" indent="0" marL="0"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sumo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(gano/junto) o </a:t>
            </a:r>
            <a:pPr algn="l" indent="0" marL="0">
              <a:buNone/>
            </a:pPr>
            <a:r>
              <a:rPr lang="en-US" sz="28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resto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(pierdo/quito).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975520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Resolver problemas con dos pasos (sumar y restar).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matemática, lápiz y ojos de detective.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Los 4 pasos del detective 🔍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647700" cy="6477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3845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47850" y="2928938"/>
            <a:ext cx="534925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Leo 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problema con atención.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2500" y="3676650"/>
            <a:ext cx="647700" cy="6477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7665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47850" y="3767138"/>
            <a:ext cx="5796677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Subrayo 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los datos y la pregunta.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52500" y="4514850"/>
            <a:ext cx="647700" cy="64770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51485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47850" y="4605338"/>
            <a:ext cx="605763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Escribo la operación 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la resuelvo.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52500" y="5353050"/>
            <a:ext cx="647700" cy="6477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35305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847850" y="5443538"/>
            <a:ext cx="613490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Respondo 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 una frase completa.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Palabras pistas 🕵️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7191375" cy="1562100"/>
          </a:xfrm>
          <a:prstGeom prst="roundRect">
            <a:avLst>
              <a:gd name="adj" fmla="val 14634"/>
            </a:avLst>
          </a:prstGeom>
          <a:solidFill>
            <a:srgbClr val="E9F5D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05150"/>
            <a:ext cx="715613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FA31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➕ SUMO cuando...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" y="3648075"/>
            <a:ext cx="715613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90"/>
              </a:lnSpc>
              <a:buNone/>
            </a:pPr>
            <a:r>
              <a:rPr lang="en-US" sz="25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gano, junto, llegan, en total, hay más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8524875" y="2838450"/>
            <a:ext cx="7191375" cy="1562100"/>
          </a:xfrm>
          <a:prstGeom prst="roundRect">
            <a:avLst>
              <a:gd name="adj" fmla="val 14634"/>
            </a:avLst>
          </a:prstGeom>
          <a:solidFill>
            <a:srgbClr val="FDE3E4"/>
          </a:solidFill>
          <a:ln/>
        </p:spPr>
      </p:sp>
      <p:sp>
        <p:nvSpPr>
          <p:cNvPr id="9" name="Text 7"/>
          <p:cNvSpPr/>
          <p:nvPr/>
        </p:nvSpPr>
        <p:spPr>
          <a:xfrm>
            <a:off x="8867775" y="3105150"/>
            <a:ext cx="715613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➖ RESTO cuando...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867775" y="3648075"/>
            <a:ext cx="715613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90"/>
              </a:lnSpc>
              <a:buNone/>
            </a:pPr>
            <a:r>
              <a:rPr lang="en-US" sz="25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pierdo, quito, se van, quedan, cuántos más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10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543050"/>
            <a:ext cx="180213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Ejemplo resuelto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2390775"/>
            <a:ext cx="16249650" cy="1704975"/>
          </a:xfrm>
          <a:prstGeom prst="roundRect">
            <a:avLst>
              <a:gd name="adj" fmla="val 13408"/>
            </a:avLst>
          </a:prstGeom>
          <a:solidFill>
            <a:srgbClr val="FFF9EF"/>
          </a:solidFill>
          <a:ln w="28575">
            <a:solidFill>
              <a:srgbClr val="FFC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667000"/>
            <a:ext cx="169735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el bus iban </a:t>
            </a:r>
            <a:pPr algn="l" indent="0" marL="0">
              <a:buNone/>
            </a:pPr>
            <a:r>
              <a:rPr lang="en-US" sz="24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128 personas</a:t>
            </a:r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Suben </a:t>
            </a:r>
            <a:pPr algn="l" indent="0" marL="0">
              <a:buNone/>
            </a:pPr>
            <a:r>
              <a:rPr lang="en-US" sz="240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45 </a:t>
            </a:r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bajan </a:t>
            </a:r>
            <a:pPr algn="l" indent="0" marL="0">
              <a:buNone/>
            </a:pPr>
            <a:r>
              <a:rPr lang="en-US" sz="240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62</a:t>
            </a:r>
            <a:pPr algn="l" indent="0" marL="0">
              <a:buNone/>
            </a:pPr>
            <a:r>
              <a:rPr lang="en-US" sz="24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¿Cuántas van ahora?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62075" y="3209925"/>
            <a:ext cx="2482751" cy="609600"/>
          </a:xfrm>
          <a:prstGeom prst="roundRect">
            <a:avLst>
              <a:gd name="adj" fmla="val 28125"/>
            </a:avLst>
          </a:prstGeom>
          <a:solidFill>
            <a:srgbClr val="E9F5D8"/>
          </a:solidFill>
          <a:ln/>
        </p:spPr>
      </p:sp>
      <p:sp>
        <p:nvSpPr>
          <p:cNvPr id="8" name="Text 6"/>
          <p:cNvSpPr/>
          <p:nvPr/>
        </p:nvSpPr>
        <p:spPr>
          <a:xfrm>
            <a:off x="1609725" y="3343275"/>
            <a:ext cx="218619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1) 128 + 45 = 173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073426" y="3319463"/>
            <a:ext cx="4000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4625876" y="3209925"/>
            <a:ext cx="2463105" cy="609600"/>
          </a:xfrm>
          <a:prstGeom prst="roundRect">
            <a:avLst>
              <a:gd name="adj" fmla="val 28125"/>
            </a:avLst>
          </a:prstGeom>
          <a:solidFill>
            <a:srgbClr val="FDE3E4"/>
          </a:solidFill>
          <a:ln/>
        </p:spPr>
      </p:sp>
      <p:sp>
        <p:nvSpPr>
          <p:cNvPr id="11" name="Text 9"/>
          <p:cNvSpPr/>
          <p:nvPr/>
        </p:nvSpPr>
        <p:spPr>
          <a:xfrm>
            <a:off x="4873526" y="3343275"/>
            <a:ext cx="216458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2) 173 − 62 = 111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317581" y="3319463"/>
            <a:ext cx="4000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7870031" y="3209925"/>
            <a:ext cx="2956620" cy="609600"/>
          </a:xfrm>
          <a:prstGeom prst="roundRect">
            <a:avLst>
              <a:gd name="adj" fmla="val 28125"/>
            </a:avLst>
          </a:prstGeom>
          <a:solidFill>
            <a:srgbClr val="1982C4"/>
          </a:solidFill>
          <a:ln/>
        </p:spPr>
      </p:sp>
      <p:sp>
        <p:nvSpPr>
          <p:cNvPr id="14" name="Text 12"/>
          <p:cNvSpPr/>
          <p:nvPr/>
        </p:nvSpPr>
        <p:spPr>
          <a:xfrm>
            <a:off x="8117681" y="3343275"/>
            <a:ext cx="27074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R: Van 111 personas.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Consejos de detective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8956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📖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042368" y="2976563"/>
            <a:ext cx="722816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Leo el problema </a:t>
            </a:r>
            <a:pPr algn="l" indent="0" marL="0">
              <a:buNone/>
            </a:pPr>
            <a:r>
              <a:rPr lang="en-US" sz="25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dos veces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antes de operar.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838575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0100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✏️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042368" y="4090987"/>
            <a:ext cx="559547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Escribo la operación </a:t>
            </a:r>
            <a:pPr algn="l" indent="0" marL="0">
              <a:buNone/>
            </a:pPr>
            <a:r>
              <a:rPr lang="en-US" sz="25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en columnas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495300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1244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💬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042368" y="5205413"/>
            <a:ext cx="709883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Siempre respondo con una </a:t>
            </a:r>
            <a:pPr algn="l" indent="0" marL="0">
              <a:buNone/>
            </a:pPr>
            <a:r>
              <a:rPr lang="en-US" sz="255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frase completa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resolver!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5430500" cy="809625"/>
          </a:xfrm>
          <a:prstGeom prst="roundRect">
            <a:avLst>
              <a:gd name="adj" fmla="val 2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57300" y="2933700"/>
            <a:ext cx="163029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a) </a:t>
            </a:r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Tengo 215 canicas y me regalan 130. ¿Cuántas tengo?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2500" y="3705225"/>
            <a:ext cx="15430500" cy="809625"/>
          </a:xfrm>
          <a:prstGeom prst="roundRect">
            <a:avLst>
              <a:gd name="adj" fmla="val 2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57300" y="3914775"/>
            <a:ext cx="163029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b) </a:t>
            </a:r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libro tiene 180 páginas. Leí 65. ¿Cuántas me faltan?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4686300"/>
            <a:ext cx="15430500" cy="809625"/>
          </a:xfrm>
          <a:prstGeom prst="roundRect">
            <a:avLst>
              <a:gd name="adj" fmla="val 2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57300" y="4895850"/>
            <a:ext cx="163029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c) </a:t>
            </a:r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Había 240 galletas. Hornean 60 y venden 90. ¿Cuántas quedan?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8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502247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635597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88097"/>
            <a:ext cx="15697200" cy="2053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64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¿Cómo sé si un problema se suma o se resta?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52500" y="6060728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FDCF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da un ejemplo de palabra pista.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032278"/>
            <a:ext cx="7969448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03728"/>
            <a:ext cx="744653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resolviste como un detective matemático!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2026-08-02T00:15:43Z</dcterms:created>
  <dcterms:modified xsi:type="dcterms:W3CDTF">2026-08-02T00:15:43Z</dcterms:modified>
</cp:coreProperties>
</file>