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Saluda con energía. Pregunta detonadora: cuando vas por la calle, ¿qué señales ves? ¿Para qué sirve el semáforo? Escucha ideas antes de avanzar.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Lee los objetivos. DBA 2 de Ciencias Sociales: reconocer que las normas y señales ayudan a la convivencia.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Qué son las señales y símbolos. Temporizador de 5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semáforo y sus colores. Temporizador de 5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Señales de tránsito comunes. Temporizador de 5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Señales informativas del entorno. Temporizador de 5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Práctica individual: 10 minutos. Los niños dibujan señales y clasifican. Corrección compartiendo respuestas.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Pregunta de verificación: ¿para qué sirven las señales? Da un ejemplo de una señal y su mensaje. Felicita y anuncia la ficha de evaluación.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9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811500" y="-1143000"/>
            <a:ext cx="3619500" cy="3619500"/>
          </a:xfrm>
          <a:prstGeom prst="ellipse">
            <a:avLst/>
          </a:prstGeom>
          <a:solidFill>
            <a:srgbClr val="FFCA3A"/>
          </a:solidFill>
          <a:ln/>
        </p:spPr>
      </p:sp>
      <p:sp>
        <p:nvSpPr>
          <p:cNvPr id="3" name="Shape 1"/>
          <p:cNvSpPr/>
          <p:nvPr/>
        </p:nvSpPr>
        <p:spPr>
          <a:xfrm>
            <a:off x="-952500" y="7620000"/>
            <a:ext cx="4000500" cy="4000500"/>
          </a:xfrm>
          <a:prstGeom prst="ellipse">
            <a:avLst/>
          </a:prstGeom>
          <a:solidFill>
            <a:srgbClr val="1982C4"/>
          </a:solidFill>
          <a:ln/>
        </p:spPr>
      </p:sp>
      <p:sp>
        <p:nvSpPr>
          <p:cNvPr id="4" name="Shape 2"/>
          <p:cNvSpPr/>
          <p:nvPr/>
        </p:nvSpPr>
        <p:spPr>
          <a:xfrm rot="-900000">
            <a:off x="1905000" y="1333500"/>
            <a:ext cx="1143000" cy="1143000"/>
          </a:xfrm>
          <a:prstGeom prst="roundRect">
            <a:avLst>
              <a:gd name="adj" fmla="val 23333"/>
            </a:avLst>
          </a:prstGeom>
          <a:solidFill>
            <a:srgbClr val="FF595E"/>
          </a:solidFill>
          <a:ln/>
        </p:spPr>
      </p:sp>
      <p:sp>
        <p:nvSpPr>
          <p:cNvPr id="5" name="Shape 3"/>
          <p:cNvSpPr/>
          <p:nvPr/>
        </p:nvSpPr>
        <p:spPr>
          <a:xfrm>
            <a:off x="15335250" y="7715250"/>
            <a:ext cx="857250" cy="857250"/>
          </a:xfrm>
          <a:prstGeom prst="ellipse">
            <a:avLst/>
          </a:prstGeom>
          <a:solidFill>
            <a:srgbClr val="8AC926"/>
          </a:solidFill>
          <a:ln/>
        </p:spPr>
      </p:sp>
      <p:sp>
        <p:nvSpPr>
          <p:cNvPr id="6" name="Shape 4"/>
          <p:cNvSpPr/>
          <p:nvPr/>
        </p:nvSpPr>
        <p:spPr>
          <a:xfrm>
            <a:off x="6088559" y="2890838"/>
            <a:ext cx="6110734" cy="6953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76200" dir="5400000">
              <a:srgbClr val="2A2A4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346820" y="3043238"/>
            <a:ext cx="3538448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spc="150" kern="0" dirty="0">
                <a:ln w="9525">
                  <a:solidFill>
                    <a:srgbClr val="C89B1C"/>
                  </a:solidFill>
                </a:ln>
                <a:solidFill>
                  <a:srgbClr val="FFCA3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CIENCIAS SOCIALES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9838730" y="3043238"/>
            <a:ext cx="22607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595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•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0099045" y="3043238"/>
            <a:ext cx="1761202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spc="150" kern="0" dirty="0">
                <a:solidFill>
                  <a:srgbClr val="FF595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GRADO 2°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4661111" y="3929063"/>
            <a:ext cx="8965629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86777"/>
              </a:lnSpc>
              <a:buNone/>
            </a:pPr>
            <a:r>
              <a:rPr lang="en-US" sz="750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Señales y Símbolos</a:t>
            </a:r>
            <a:endParaRPr lang="en-US" sz="7500" dirty="0"/>
          </a:p>
        </p:txBody>
      </p:sp>
      <p:sp>
        <p:nvSpPr>
          <p:cNvPr id="11" name="Text 9"/>
          <p:cNvSpPr/>
          <p:nvPr/>
        </p:nvSpPr>
        <p:spPr>
          <a:xfrm>
            <a:off x="4948907" y="5272088"/>
            <a:ext cx="8390186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1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Mensajes que nos cuidan y nos guían 🚦</a:t>
            </a:r>
            <a:endParaRPr lang="en-US" sz="3150" dirty="0"/>
          </a:p>
        </p:txBody>
      </p:sp>
      <p:sp>
        <p:nvSpPr>
          <p:cNvPr id="12" name="Shape 10"/>
          <p:cNvSpPr/>
          <p:nvPr/>
        </p:nvSpPr>
        <p:spPr>
          <a:xfrm>
            <a:off x="6032004" y="6186488"/>
            <a:ext cx="1398836" cy="1209675"/>
          </a:xfrm>
          <a:prstGeom prst="roundRect">
            <a:avLst>
              <a:gd name="adj" fmla="val 1889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57150" dir="5400000">
              <a:srgbClr val="2A2A4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22504" y="6300788"/>
            <a:ext cx="1017836" cy="1019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54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🚦</a:t>
            </a:r>
            <a:endParaRPr lang="en-US" sz="5400" dirty="0"/>
          </a:p>
        </p:txBody>
      </p:sp>
      <p:sp>
        <p:nvSpPr>
          <p:cNvPr id="14" name="Shape 12"/>
          <p:cNvSpPr/>
          <p:nvPr/>
        </p:nvSpPr>
        <p:spPr>
          <a:xfrm>
            <a:off x="7640389" y="6186488"/>
            <a:ext cx="1398836" cy="1209675"/>
          </a:xfrm>
          <a:prstGeom prst="roundRect">
            <a:avLst>
              <a:gd name="adj" fmla="val 1889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57150" dir="5400000">
              <a:srgbClr val="2A2A4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830889" y="6300788"/>
            <a:ext cx="1017836" cy="1019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54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🚸</a:t>
            </a:r>
            <a:endParaRPr lang="en-US" sz="5400" dirty="0"/>
          </a:p>
        </p:txBody>
      </p:sp>
      <p:sp>
        <p:nvSpPr>
          <p:cNvPr id="16" name="Shape 14"/>
          <p:cNvSpPr/>
          <p:nvPr/>
        </p:nvSpPr>
        <p:spPr>
          <a:xfrm>
            <a:off x="9248775" y="6186488"/>
            <a:ext cx="1398836" cy="1209675"/>
          </a:xfrm>
          <a:prstGeom prst="roundRect">
            <a:avLst>
              <a:gd name="adj" fmla="val 1889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57150" dir="5400000">
              <a:srgbClr val="2A2A4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439275" y="6300788"/>
            <a:ext cx="1017836" cy="1019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54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🚻</a:t>
            </a:r>
            <a:endParaRPr lang="en-US" sz="5400" dirty="0"/>
          </a:p>
        </p:txBody>
      </p:sp>
      <p:sp>
        <p:nvSpPr>
          <p:cNvPr id="18" name="Shape 16"/>
          <p:cNvSpPr/>
          <p:nvPr/>
        </p:nvSpPr>
        <p:spPr>
          <a:xfrm>
            <a:off x="10857161" y="6186488"/>
            <a:ext cx="1398836" cy="1209675"/>
          </a:xfrm>
          <a:prstGeom prst="roundRect">
            <a:avLst>
              <a:gd name="adj" fmla="val 1889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57150" dir="5400000">
              <a:srgbClr val="2A2A4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1047661" y="6300788"/>
            <a:ext cx="1017836" cy="1019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54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⛔</a:t>
            </a:r>
            <a:endParaRPr lang="en-US" sz="5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9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962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¿Qué aprenderemos hoy?</a:t>
            </a:r>
            <a:endParaRPr lang="en-US" sz="6000" dirty="0"/>
          </a:p>
        </p:txBody>
      </p:sp>
      <p:sp>
        <p:nvSpPr>
          <p:cNvPr id="3" name="Shape 1"/>
          <p:cNvSpPr/>
          <p:nvPr/>
        </p:nvSpPr>
        <p:spPr>
          <a:xfrm>
            <a:off x="952500" y="2371725"/>
            <a:ext cx="14287500" cy="1257300"/>
          </a:xfrm>
          <a:prstGeom prst="roundRect">
            <a:avLst>
              <a:gd name="adj" fmla="val 212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57150" dir="5400000">
              <a:srgbClr val="2A2A4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333500" y="2638425"/>
            <a:ext cx="723900" cy="723900"/>
          </a:xfrm>
          <a:prstGeom prst="ellipse">
            <a:avLst/>
          </a:prstGeom>
          <a:solidFill>
            <a:srgbClr val="FF595E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638425"/>
            <a:ext cx="80010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1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2324100" y="2757488"/>
            <a:ext cx="7109802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Saber qué son las </a:t>
            </a:r>
            <a:pPr algn="l" indent="0" marL="0">
              <a:buNone/>
            </a:pPr>
            <a:r>
              <a:rPr lang="en-US" sz="2850" b="1" dirty="0">
                <a:solidFill>
                  <a:srgbClr val="1982C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señales y símbolos</a:t>
            </a:r>
            <a:pPr algn="l" indent="0" marL="0">
              <a:buNone/>
            </a:pPr>
            <a:r>
              <a:rPr lang="en-US" sz="28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.</a:t>
            </a:r>
            <a:endParaRPr lang="en-US" sz="2850" dirty="0"/>
          </a:p>
        </p:txBody>
      </p:sp>
      <p:sp>
        <p:nvSpPr>
          <p:cNvPr id="7" name="Shape 5"/>
          <p:cNvSpPr/>
          <p:nvPr/>
        </p:nvSpPr>
        <p:spPr>
          <a:xfrm>
            <a:off x="952500" y="3895725"/>
            <a:ext cx="14287500" cy="1257300"/>
          </a:xfrm>
          <a:prstGeom prst="roundRect">
            <a:avLst>
              <a:gd name="adj" fmla="val 212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57150" dir="5400000">
              <a:srgbClr val="2A2A4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333500" y="4162425"/>
            <a:ext cx="723900" cy="723900"/>
          </a:xfrm>
          <a:prstGeom prst="ellipse">
            <a:avLst/>
          </a:prstGeom>
          <a:solidFill>
            <a:srgbClr val="FFCA3A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4162425"/>
            <a:ext cx="80010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2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2324100" y="4281488"/>
            <a:ext cx="8551768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Reconocer señales de </a:t>
            </a:r>
            <a:pPr algn="l" indent="0" marL="0">
              <a:buNone/>
            </a:pPr>
            <a:r>
              <a:rPr lang="en-US" sz="2850" b="1" dirty="0">
                <a:solidFill>
                  <a:srgbClr val="FF595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tránsito </a:t>
            </a:r>
            <a:pPr algn="l" indent="0" marL="0">
              <a:buNone/>
            </a:pPr>
            <a:r>
              <a:rPr lang="en-US" sz="28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 </a:t>
            </a:r>
            <a:pPr algn="l" indent="0" marL="0">
              <a:buNone/>
            </a:pPr>
            <a:r>
              <a:rPr lang="en-US" sz="2850" b="1" dirty="0">
                <a:solidFill>
                  <a:srgbClr val="8AC92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informativas</a:t>
            </a:r>
            <a:pPr algn="l" indent="0" marL="0">
              <a:buNone/>
            </a:pPr>
            <a:r>
              <a:rPr lang="en-US" sz="28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.</a:t>
            </a:r>
            <a:endParaRPr lang="en-US" sz="2850" dirty="0"/>
          </a:p>
        </p:txBody>
      </p:sp>
      <p:sp>
        <p:nvSpPr>
          <p:cNvPr id="11" name="Shape 9"/>
          <p:cNvSpPr/>
          <p:nvPr/>
        </p:nvSpPr>
        <p:spPr>
          <a:xfrm>
            <a:off x="952500" y="5419725"/>
            <a:ext cx="14287500" cy="1257300"/>
          </a:xfrm>
          <a:prstGeom prst="roundRect">
            <a:avLst>
              <a:gd name="adj" fmla="val 212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57150" dir="5400000">
              <a:srgbClr val="2A2A4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333500" y="5686425"/>
            <a:ext cx="723900" cy="723900"/>
          </a:xfrm>
          <a:prstGeom prst="ellipse">
            <a:avLst/>
          </a:prstGeom>
          <a:solidFill>
            <a:srgbClr val="8AC926"/>
          </a:solidFill>
          <a:ln/>
        </p:spPr>
      </p:sp>
      <p:sp>
        <p:nvSpPr>
          <p:cNvPr id="13" name="Text 11"/>
          <p:cNvSpPr/>
          <p:nvPr/>
        </p:nvSpPr>
        <p:spPr>
          <a:xfrm>
            <a:off x="1295400" y="5686425"/>
            <a:ext cx="80010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3</a:t>
            </a:r>
            <a:endParaRPr lang="en-US" sz="3300" dirty="0"/>
          </a:p>
        </p:txBody>
      </p:sp>
      <p:sp>
        <p:nvSpPr>
          <p:cNvPr id="14" name="Text 12"/>
          <p:cNvSpPr/>
          <p:nvPr/>
        </p:nvSpPr>
        <p:spPr>
          <a:xfrm>
            <a:off x="2324100" y="5805488"/>
            <a:ext cx="7694578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Entender por qué las señales nos cuidan.</a:t>
            </a:r>
            <a:endParaRPr lang="en-US" sz="2850" dirty="0"/>
          </a:p>
        </p:txBody>
      </p:sp>
      <p:sp>
        <p:nvSpPr>
          <p:cNvPr id="15" name="Text 13"/>
          <p:cNvSpPr/>
          <p:nvPr/>
        </p:nvSpPr>
        <p:spPr>
          <a:xfrm>
            <a:off x="952500" y="7172325"/>
            <a:ext cx="1802130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6A4C9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Necesitas: cuaderno de sociales, lápiz y colores.</a:t>
            </a:r>
            <a:endParaRPr lang="en-US" sz="2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762000"/>
            <a:ext cx="5891064" cy="628650"/>
          </a:xfrm>
          <a:prstGeom prst="roundRect">
            <a:avLst>
              <a:gd name="adj" fmla="val 30303"/>
            </a:avLst>
          </a:prstGeom>
          <a:solidFill>
            <a:srgbClr val="FFCA3A"/>
          </a:solidFill>
          <a:ln/>
        </p:spPr>
      </p:sp>
      <p:sp>
        <p:nvSpPr>
          <p:cNvPr id="3" name="Text 1"/>
          <p:cNvSpPr/>
          <p:nvPr/>
        </p:nvSpPr>
        <p:spPr>
          <a:xfrm>
            <a:off x="1238250" y="895350"/>
            <a:ext cx="5496296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75" kern="0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ESCRIBE EN TU CUADERNO · PARTE 1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1771650"/>
            <a:ext cx="1802130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FF595E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¿Qué son las señales?</a:t>
            </a:r>
            <a:endParaRPr lang="en-US" sz="4500" dirty="0"/>
          </a:p>
        </p:txBody>
      </p:sp>
      <p:sp>
        <p:nvSpPr>
          <p:cNvPr id="5" name="Shape 3"/>
          <p:cNvSpPr/>
          <p:nvPr/>
        </p:nvSpPr>
        <p:spPr>
          <a:xfrm>
            <a:off x="952500" y="2838450"/>
            <a:ext cx="15106650" cy="1390650"/>
          </a:xfrm>
          <a:prstGeom prst="roundRect">
            <a:avLst>
              <a:gd name="adj" fmla="val 13699"/>
            </a:avLst>
          </a:prstGeom>
          <a:blipFill>
            <a:blip r:embed="rId1"/>
            <a:tile tx="0" ty="0" sx="100000" sy="100000" flip="none" algn="tl"/>
          </a:blipFill>
          <a:ln w="28575">
            <a:solidFill>
              <a:srgbClr val="BFDCF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62075" y="2962275"/>
            <a:ext cx="14716125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647"/>
              </a:lnSpc>
              <a:buNone/>
            </a:pPr>
            <a:r>
              <a:rPr lang="en-US" sz="28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Las señales y símbolos son </a:t>
            </a:r>
            <a:pPr algn="l" indent="0" marL="0">
              <a:lnSpc>
                <a:spcPct val="117647"/>
              </a:lnSpc>
              <a:buNone/>
            </a:pPr>
            <a:r>
              <a:rPr lang="en-US" sz="2850" b="1" dirty="0">
                <a:solidFill>
                  <a:srgbClr val="1982C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dibujos o colores </a:t>
            </a:r>
            <a:pPr algn="l" indent="0" marL="0">
              <a:lnSpc>
                <a:spcPct val="117647"/>
              </a:lnSpc>
              <a:buNone/>
            </a:pPr>
            <a:r>
              <a:rPr lang="en-US" sz="28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que nos dan un mensaje sin usar palabras.</a:t>
            </a:r>
            <a:endParaRPr lang="en-US" sz="2850" dirty="0"/>
          </a:p>
        </p:txBody>
      </p:sp>
      <p:sp>
        <p:nvSpPr>
          <p:cNvPr id="7" name="Shape 5"/>
          <p:cNvSpPr/>
          <p:nvPr/>
        </p:nvSpPr>
        <p:spPr>
          <a:xfrm>
            <a:off x="952500" y="4610100"/>
            <a:ext cx="15049500" cy="1000125"/>
          </a:xfrm>
          <a:prstGeom prst="roundRect">
            <a:avLst>
              <a:gd name="adj" fmla="val 22857"/>
            </a:avLst>
          </a:prstGeom>
          <a:solidFill>
            <a:srgbClr val="FFF3D6"/>
          </a:solidFill>
          <a:ln/>
        </p:spPr>
      </p:sp>
      <p:sp>
        <p:nvSpPr>
          <p:cNvPr id="8" name="Text 6"/>
          <p:cNvSpPr/>
          <p:nvPr/>
        </p:nvSpPr>
        <p:spPr>
          <a:xfrm>
            <a:off x="1333500" y="4876800"/>
            <a:ext cx="15716250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Nos ayudan a estar </a:t>
            </a:r>
            <a:pPr algn="l" indent="0" marL="0">
              <a:buNone/>
            </a:pPr>
            <a:r>
              <a:rPr lang="en-US" sz="2550" b="1" dirty="0">
                <a:solidFill>
                  <a:srgbClr val="C89B1C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seguros </a:t>
            </a:r>
            <a:pPr algn="l" indent="0" marL="0">
              <a:buNone/>
            </a:pPr>
            <a:r>
              <a:rPr lang="en-US" sz="25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y a saber qué hacer o a dónde ir. 🚦</a:t>
            </a:r>
            <a:endParaRPr lang="en-US" sz="2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762000"/>
            <a:ext cx="5891064" cy="628650"/>
          </a:xfrm>
          <a:prstGeom prst="roundRect">
            <a:avLst>
              <a:gd name="adj" fmla="val 30303"/>
            </a:avLst>
          </a:prstGeom>
          <a:solidFill>
            <a:srgbClr val="FFCA3A"/>
          </a:solidFill>
          <a:ln/>
        </p:spPr>
      </p:sp>
      <p:sp>
        <p:nvSpPr>
          <p:cNvPr id="3" name="Text 1"/>
          <p:cNvSpPr/>
          <p:nvPr/>
        </p:nvSpPr>
        <p:spPr>
          <a:xfrm>
            <a:off x="1238250" y="895350"/>
            <a:ext cx="5496296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75" kern="0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ESCRIBE EN TU CUADERNO · PARTE 2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1733550"/>
            <a:ext cx="1802130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1982C4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El semáforo 🚦</a:t>
            </a:r>
            <a:endParaRPr lang="en-US" sz="4500" dirty="0"/>
          </a:p>
        </p:txBody>
      </p:sp>
      <p:sp>
        <p:nvSpPr>
          <p:cNvPr id="5" name="Shape 3"/>
          <p:cNvSpPr/>
          <p:nvPr/>
        </p:nvSpPr>
        <p:spPr>
          <a:xfrm>
            <a:off x="952500" y="2838450"/>
            <a:ext cx="1257300" cy="3124200"/>
          </a:xfrm>
          <a:prstGeom prst="roundRect">
            <a:avLst>
              <a:gd name="adj" fmla="val 21212"/>
            </a:avLst>
          </a:prstGeom>
          <a:solidFill>
            <a:srgbClr val="2A2A40"/>
          </a:solidFill>
          <a:ln/>
        </p:spPr>
      </p:sp>
      <p:sp>
        <p:nvSpPr>
          <p:cNvPr id="6" name="Shape 4"/>
          <p:cNvSpPr/>
          <p:nvPr/>
        </p:nvSpPr>
        <p:spPr>
          <a:xfrm>
            <a:off x="1200150" y="3086100"/>
            <a:ext cx="762000" cy="762000"/>
          </a:xfrm>
          <a:prstGeom prst="ellipse">
            <a:avLst/>
          </a:prstGeom>
          <a:solidFill>
            <a:srgbClr val="FF595E"/>
          </a:solidFill>
          <a:ln/>
        </p:spPr>
      </p:sp>
      <p:sp>
        <p:nvSpPr>
          <p:cNvPr id="7" name="Shape 5"/>
          <p:cNvSpPr/>
          <p:nvPr/>
        </p:nvSpPr>
        <p:spPr>
          <a:xfrm>
            <a:off x="1200150" y="4019550"/>
            <a:ext cx="762000" cy="762000"/>
          </a:xfrm>
          <a:prstGeom prst="ellipse">
            <a:avLst/>
          </a:prstGeom>
          <a:solidFill>
            <a:srgbClr val="FFCA3A"/>
          </a:solidFill>
          <a:ln/>
        </p:spPr>
      </p:sp>
      <p:sp>
        <p:nvSpPr>
          <p:cNvPr id="8" name="Shape 6"/>
          <p:cNvSpPr/>
          <p:nvPr/>
        </p:nvSpPr>
        <p:spPr>
          <a:xfrm>
            <a:off x="1200150" y="4953000"/>
            <a:ext cx="762000" cy="762000"/>
          </a:xfrm>
          <a:prstGeom prst="ellipse">
            <a:avLst/>
          </a:prstGeom>
          <a:solidFill>
            <a:srgbClr val="8AC926"/>
          </a:solidFill>
          <a:ln/>
        </p:spPr>
      </p:sp>
      <p:sp>
        <p:nvSpPr>
          <p:cNvPr id="9" name="Shape 7"/>
          <p:cNvSpPr/>
          <p:nvPr/>
        </p:nvSpPr>
        <p:spPr>
          <a:xfrm>
            <a:off x="2590800" y="3600450"/>
            <a:ext cx="419100" cy="419100"/>
          </a:xfrm>
          <a:prstGeom prst="ellipse">
            <a:avLst/>
          </a:prstGeom>
          <a:solidFill>
            <a:srgbClr val="FF595E"/>
          </a:solidFill>
          <a:ln/>
        </p:spPr>
      </p:sp>
      <p:sp>
        <p:nvSpPr>
          <p:cNvPr id="10" name="Text 8"/>
          <p:cNvSpPr/>
          <p:nvPr/>
        </p:nvSpPr>
        <p:spPr>
          <a:xfrm>
            <a:off x="3181350" y="3605213"/>
            <a:ext cx="2986742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Rojo: me detengo.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2590800" y="4191000"/>
            <a:ext cx="419100" cy="419100"/>
          </a:xfrm>
          <a:prstGeom prst="ellipse">
            <a:avLst/>
          </a:prstGeom>
          <a:solidFill>
            <a:srgbClr val="FFCA3A"/>
          </a:solidFill>
          <a:ln/>
        </p:spPr>
      </p:sp>
      <p:sp>
        <p:nvSpPr>
          <p:cNvPr id="12" name="Text 10"/>
          <p:cNvSpPr/>
          <p:nvPr/>
        </p:nvSpPr>
        <p:spPr>
          <a:xfrm>
            <a:off x="3181350" y="4195763"/>
            <a:ext cx="5058832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Amarillo: espero, con cuidado.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2590800" y="4781550"/>
            <a:ext cx="419100" cy="419100"/>
          </a:xfrm>
          <a:prstGeom prst="ellipse">
            <a:avLst/>
          </a:prstGeom>
          <a:solidFill>
            <a:srgbClr val="8AC926"/>
          </a:solidFill>
          <a:ln/>
        </p:spPr>
      </p:sp>
      <p:sp>
        <p:nvSpPr>
          <p:cNvPr id="14" name="Text 12"/>
          <p:cNvSpPr/>
          <p:nvPr/>
        </p:nvSpPr>
        <p:spPr>
          <a:xfrm>
            <a:off x="3181350" y="4786313"/>
            <a:ext cx="3323987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Verde: puedo pasar.</a:t>
            </a:r>
            <a:endParaRPr lang="en-US" sz="2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666750"/>
            <a:ext cx="5891064" cy="628650"/>
          </a:xfrm>
          <a:prstGeom prst="roundRect">
            <a:avLst>
              <a:gd name="adj" fmla="val 30303"/>
            </a:avLst>
          </a:prstGeom>
          <a:solidFill>
            <a:srgbClr val="FFCA3A"/>
          </a:solidFill>
          <a:ln/>
        </p:spPr>
      </p:sp>
      <p:sp>
        <p:nvSpPr>
          <p:cNvPr id="3" name="Text 1"/>
          <p:cNvSpPr/>
          <p:nvPr/>
        </p:nvSpPr>
        <p:spPr>
          <a:xfrm>
            <a:off x="1238250" y="800100"/>
            <a:ext cx="5496296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75" kern="0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ESCRIBE EN TU CUADERNO · PARTE 3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1562100"/>
            <a:ext cx="180213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8AC926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Señales de tránsito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952500" y="2476500"/>
            <a:ext cx="3786188" cy="1924050"/>
          </a:xfrm>
          <a:prstGeom prst="roundRect">
            <a:avLst>
              <a:gd name="adj" fmla="val 11881"/>
            </a:avLst>
          </a:prstGeom>
          <a:solidFill>
            <a:srgbClr val="FDE3E4"/>
          </a:solidFill>
          <a:ln/>
        </p:spPr>
      </p:sp>
      <p:sp>
        <p:nvSpPr>
          <p:cNvPr id="6" name="Text 4"/>
          <p:cNvSpPr/>
          <p:nvPr/>
        </p:nvSpPr>
        <p:spPr>
          <a:xfrm>
            <a:off x="909876" y="2705100"/>
            <a:ext cx="3871436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42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⛔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909876" y="3543300"/>
            <a:ext cx="387143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595E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Pare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909876" y="3914775"/>
            <a:ext cx="387143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detente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929188" y="2476500"/>
            <a:ext cx="3786188" cy="1924050"/>
          </a:xfrm>
          <a:prstGeom prst="roundRect">
            <a:avLst>
              <a:gd name="adj" fmla="val 11881"/>
            </a:avLst>
          </a:prstGeom>
          <a:solidFill>
            <a:srgbClr val="FFF3D6"/>
          </a:solidFill>
          <a:ln/>
        </p:spPr>
      </p:sp>
      <p:sp>
        <p:nvSpPr>
          <p:cNvPr id="10" name="Text 8"/>
          <p:cNvSpPr/>
          <p:nvPr/>
        </p:nvSpPr>
        <p:spPr>
          <a:xfrm>
            <a:off x="4886563" y="2705100"/>
            <a:ext cx="3871436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42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🚸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4886563" y="3543300"/>
            <a:ext cx="387143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C89B1C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Niños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4886563" y="3914775"/>
            <a:ext cx="387143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cruce escolar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905875" y="2476500"/>
            <a:ext cx="3786188" cy="1924050"/>
          </a:xfrm>
          <a:prstGeom prst="roundRect">
            <a:avLst>
              <a:gd name="adj" fmla="val 11881"/>
            </a:avLst>
          </a:prstGeom>
          <a:solidFill>
            <a:srgbClr val="E3F0FA"/>
          </a:solidFill>
          <a:ln/>
        </p:spPr>
      </p:sp>
      <p:sp>
        <p:nvSpPr>
          <p:cNvPr id="14" name="Text 12"/>
          <p:cNvSpPr/>
          <p:nvPr/>
        </p:nvSpPr>
        <p:spPr>
          <a:xfrm>
            <a:off x="8863251" y="2705100"/>
            <a:ext cx="3871436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42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🚶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8863251" y="3543300"/>
            <a:ext cx="387143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1982C4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Cebra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8863251" y="3914775"/>
            <a:ext cx="387143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cruce peatonal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12882563" y="2476500"/>
            <a:ext cx="3786188" cy="1924050"/>
          </a:xfrm>
          <a:prstGeom prst="roundRect">
            <a:avLst>
              <a:gd name="adj" fmla="val 11881"/>
            </a:avLst>
          </a:prstGeom>
          <a:solidFill>
            <a:srgbClr val="E9F5D8"/>
          </a:solidFill>
          <a:ln/>
        </p:spPr>
      </p:sp>
      <p:sp>
        <p:nvSpPr>
          <p:cNvPr id="18" name="Text 16"/>
          <p:cNvSpPr/>
          <p:nvPr/>
        </p:nvSpPr>
        <p:spPr>
          <a:xfrm>
            <a:off x="12839938" y="2705100"/>
            <a:ext cx="3871436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42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🚲</a:t>
            </a:r>
            <a:endParaRPr lang="en-US" sz="4200" dirty="0"/>
          </a:p>
        </p:txBody>
      </p:sp>
      <p:sp>
        <p:nvSpPr>
          <p:cNvPr id="19" name="Text 17"/>
          <p:cNvSpPr/>
          <p:nvPr/>
        </p:nvSpPr>
        <p:spPr>
          <a:xfrm>
            <a:off x="12839938" y="3543300"/>
            <a:ext cx="387143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6FA31E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Ciclovía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12839938" y="3914775"/>
            <a:ext cx="387143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paso de bicis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666750"/>
            <a:ext cx="5891064" cy="628650"/>
          </a:xfrm>
          <a:prstGeom prst="roundRect">
            <a:avLst>
              <a:gd name="adj" fmla="val 30303"/>
            </a:avLst>
          </a:prstGeom>
          <a:solidFill>
            <a:srgbClr val="FFCA3A"/>
          </a:solidFill>
          <a:ln/>
        </p:spPr>
      </p:sp>
      <p:sp>
        <p:nvSpPr>
          <p:cNvPr id="3" name="Text 1"/>
          <p:cNvSpPr/>
          <p:nvPr/>
        </p:nvSpPr>
        <p:spPr>
          <a:xfrm>
            <a:off x="1238250" y="800100"/>
            <a:ext cx="5496296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75" kern="0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ESCRIBE EN TU CUADERNO · PARTE 4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1562100"/>
            <a:ext cx="180213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6A4C93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Señales informativas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952500" y="2476500"/>
            <a:ext cx="1802130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6A4C9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Nos indican dónde encontrar algo.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952500" y="3105150"/>
            <a:ext cx="3786188" cy="1590675"/>
          </a:xfrm>
          <a:prstGeom prst="roundRect">
            <a:avLst>
              <a:gd name="adj" fmla="val 14371"/>
            </a:avLst>
          </a:prstGeom>
          <a:solidFill>
            <a:srgbClr val="FFF9EF"/>
          </a:solidFill>
          <a:ln/>
        </p:spPr>
      </p:sp>
      <p:sp>
        <p:nvSpPr>
          <p:cNvPr id="7" name="Text 5"/>
          <p:cNvSpPr/>
          <p:nvPr/>
        </p:nvSpPr>
        <p:spPr>
          <a:xfrm>
            <a:off x="909876" y="3333750"/>
            <a:ext cx="3871436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42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🚻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909876" y="4171950"/>
            <a:ext cx="387143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1982C4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Baños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4929188" y="3105150"/>
            <a:ext cx="3786188" cy="1590675"/>
          </a:xfrm>
          <a:prstGeom prst="roundRect">
            <a:avLst>
              <a:gd name="adj" fmla="val 14371"/>
            </a:avLst>
          </a:prstGeom>
          <a:solidFill>
            <a:srgbClr val="FFF9EF"/>
          </a:solidFill>
          <a:ln/>
        </p:spPr>
      </p:sp>
      <p:sp>
        <p:nvSpPr>
          <p:cNvPr id="10" name="Text 8"/>
          <p:cNvSpPr/>
          <p:nvPr/>
        </p:nvSpPr>
        <p:spPr>
          <a:xfrm>
            <a:off x="4886563" y="3333750"/>
            <a:ext cx="3871436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42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🏥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4886563" y="4171950"/>
            <a:ext cx="387143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595E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Hospital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8905875" y="3105150"/>
            <a:ext cx="3786188" cy="1590675"/>
          </a:xfrm>
          <a:prstGeom prst="roundRect">
            <a:avLst>
              <a:gd name="adj" fmla="val 14371"/>
            </a:avLst>
          </a:prstGeom>
          <a:solidFill>
            <a:srgbClr val="FFF9EF"/>
          </a:solidFill>
          <a:ln/>
        </p:spPr>
      </p:sp>
      <p:sp>
        <p:nvSpPr>
          <p:cNvPr id="13" name="Text 11"/>
          <p:cNvSpPr/>
          <p:nvPr/>
        </p:nvSpPr>
        <p:spPr>
          <a:xfrm>
            <a:off x="8863251" y="3333750"/>
            <a:ext cx="3871436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42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🍽️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8863251" y="4171950"/>
            <a:ext cx="387143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8AC926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Restaurante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12882563" y="3105150"/>
            <a:ext cx="3786188" cy="1590675"/>
          </a:xfrm>
          <a:prstGeom prst="roundRect">
            <a:avLst>
              <a:gd name="adj" fmla="val 14371"/>
            </a:avLst>
          </a:prstGeom>
          <a:solidFill>
            <a:srgbClr val="FFF9EF"/>
          </a:solidFill>
          <a:ln/>
        </p:spPr>
      </p:sp>
      <p:sp>
        <p:nvSpPr>
          <p:cNvPr id="16" name="Text 14"/>
          <p:cNvSpPr/>
          <p:nvPr/>
        </p:nvSpPr>
        <p:spPr>
          <a:xfrm>
            <a:off x="12839938" y="3333750"/>
            <a:ext cx="3871436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42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🅿️</a:t>
            </a:r>
            <a:endParaRPr lang="en-US" sz="4200" dirty="0"/>
          </a:p>
        </p:txBody>
      </p:sp>
      <p:sp>
        <p:nvSpPr>
          <p:cNvPr id="17" name="Text 15"/>
          <p:cNvSpPr/>
          <p:nvPr/>
        </p:nvSpPr>
        <p:spPr>
          <a:xfrm>
            <a:off x="12839938" y="4171950"/>
            <a:ext cx="387143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6A4C93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Parqueadero</a:t>
            </a:r>
            <a:endParaRPr lang="en-US" sz="1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9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762000"/>
            <a:ext cx="6488906" cy="628650"/>
          </a:xfrm>
          <a:prstGeom prst="roundRect">
            <a:avLst>
              <a:gd name="adj" fmla="val 30303"/>
            </a:avLst>
          </a:prstGeom>
          <a:solidFill>
            <a:srgbClr val="FF595E"/>
          </a:solidFill>
          <a:ln/>
        </p:spPr>
      </p:sp>
      <p:sp>
        <p:nvSpPr>
          <p:cNvPr id="3" name="Text 1"/>
          <p:cNvSpPr/>
          <p:nvPr/>
        </p:nvSpPr>
        <p:spPr>
          <a:xfrm>
            <a:off x="1238250" y="895350"/>
            <a:ext cx="6112073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75" kern="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AHORA TÚ · RESUELVE EN TU CUADERNO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1714500"/>
            <a:ext cx="1802130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¡A practicar!</a:t>
            </a:r>
            <a:endParaRPr lang="en-US" sz="4500" dirty="0"/>
          </a:p>
        </p:txBody>
      </p:sp>
      <p:sp>
        <p:nvSpPr>
          <p:cNvPr id="5" name="Shape 3"/>
          <p:cNvSpPr/>
          <p:nvPr/>
        </p:nvSpPr>
        <p:spPr>
          <a:xfrm>
            <a:off x="952500" y="2724150"/>
            <a:ext cx="16268700" cy="140017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57150" dir="5400000">
              <a:srgbClr val="2A2A4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371600" y="2990850"/>
            <a:ext cx="1697355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595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1. Escribe qué debo hacer con cada color del semáforo: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1371600" y="3514725"/>
            <a:ext cx="342900" cy="342900"/>
          </a:xfrm>
          <a:prstGeom prst="ellipse">
            <a:avLst/>
          </a:prstGeom>
          <a:solidFill>
            <a:srgbClr val="FF595E"/>
          </a:solidFill>
          <a:ln/>
        </p:spPr>
      </p:sp>
      <p:sp>
        <p:nvSpPr>
          <p:cNvPr id="8" name="Text 6"/>
          <p:cNvSpPr/>
          <p:nvPr/>
        </p:nvSpPr>
        <p:spPr>
          <a:xfrm>
            <a:off x="1809750" y="3514725"/>
            <a:ext cx="1418779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______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3438079" y="3514725"/>
            <a:ext cx="342900" cy="342900"/>
          </a:xfrm>
          <a:prstGeom prst="ellipse">
            <a:avLst/>
          </a:prstGeom>
          <a:solidFill>
            <a:srgbClr val="FFCA3A"/>
          </a:solidFill>
          <a:ln/>
        </p:spPr>
      </p:sp>
      <p:sp>
        <p:nvSpPr>
          <p:cNvPr id="10" name="Text 8"/>
          <p:cNvSpPr/>
          <p:nvPr/>
        </p:nvSpPr>
        <p:spPr>
          <a:xfrm>
            <a:off x="3876229" y="3514725"/>
            <a:ext cx="1418779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______</a:t>
            </a:r>
            <a:endParaRPr lang="en-US" sz="2250" dirty="0"/>
          </a:p>
        </p:txBody>
      </p:sp>
      <p:sp>
        <p:nvSpPr>
          <p:cNvPr id="11" name="Shape 9"/>
          <p:cNvSpPr/>
          <p:nvPr/>
        </p:nvSpPr>
        <p:spPr>
          <a:xfrm>
            <a:off x="5504557" y="3514725"/>
            <a:ext cx="342900" cy="342900"/>
          </a:xfrm>
          <a:prstGeom prst="ellipse">
            <a:avLst/>
          </a:prstGeom>
          <a:solidFill>
            <a:srgbClr val="8AC926"/>
          </a:solidFill>
          <a:ln/>
        </p:spPr>
      </p:sp>
      <p:sp>
        <p:nvSpPr>
          <p:cNvPr id="12" name="Text 10"/>
          <p:cNvSpPr/>
          <p:nvPr/>
        </p:nvSpPr>
        <p:spPr>
          <a:xfrm>
            <a:off x="5942707" y="3514725"/>
            <a:ext cx="1418779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______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952500" y="4448175"/>
            <a:ext cx="16268700" cy="847725"/>
          </a:xfrm>
          <a:prstGeom prst="roundRect">
            <a:avLst>
              <a:gd name="adj" fmla="val 31461"/>
            </a:avLst>
          </a:prstGeom>
          <a:solidFill>
            <a:srgbClr val="6A4C93"/>
          </a:solidFill>
          <a:ln/>
        </p:spPr>
      </p:sp>
      <p:sp>
        <p:nvSpPr>
          <p:cNvPr id="14" name="Text 12"/>
          <p:cNvSpPr/>
          <p:nvPr/>
        </p:nvSpPr>
        <p:spPr>
          <a:xfrm>
            <a:off x="1371600" y="4676775"/>
            <a:ext cx="1697355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2. Dibuja </a:t>
            </a:r>
            <a:pPr algn="l" indent="0" marL="0">
              <a:buNone/>
            </a:pPr>
            <a:r>
              <a:rPr lang="en-US" sz="2250" b="1" dirty="0">
                <a:solidFill>
                  <a:srgbClr val="FFCA3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2 señales</a:t>
            </a:r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: una de tránsito y una informativa.</a:t>
            </a:r>
            <a:endParaRPr lang="en-US" sz="2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C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2502247"/>
            <a:ext cx="2960340" cy="628650"/>
          </a:xfrm>
          <a:prstGeom prst="roundRect">
            <a:avLst>
              <a:gd name="adj" fmla="val 30303"/>
            </a:avLst>
          </a:prstGeom>
          <a:solidFill>
            <a:srgbClr val="FF595E"/>
          </a:solidFill>
          <a:ln/>
        </p:spPr>
      </p:sp>
      <p:sp>
        <p:nvSpPr>
          <p:cNvPr id="3" name="Text 1"/>
          <p:cNvSpPr/>
          <p:nvPr/>
        </p:nvSpPr>
        <p:spPr>
          <a:xfrm>
            <a:off x="1238250" y="2635597"/>
            <a:ext cx="247765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75" kern="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PARA TERMINAR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3588097"/>
            <a:ext cx="15697200" cy="20535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464"/>
              </a:lnSpc>
              <a:buNone/>
            </a:pPr>
            <a:r>
              <a:rPr lang="en-US" sz="690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¿Para qué sirven las señales? Da un ejemplo.</a:t>
            </a:r>
            <a:endParaRPr lang="en-US" sz="6900" dirty="0"/>
          </a:p>
        </p:txBody>
      </p:sp>
      <p:sp>
        <p:nvSpPr>
          <p:cNvPr id="5" name="Text 3"/>
          <p:cNvSpPr/>
          <p:nvPr/>
        </p:nvSpPr>
        <p:spPr>
          <a:xfrm>
            <a:off x="952500" y="6060728"/>
            <a:ext cx="1802130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6A4C9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Levanta la mano y cuéntanos.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952500" y="7032278"/>
            <a:ext cx="7936260" cy="7524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1333500" y="7203728"/>
            <a:ext cx="7412348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595E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¡Hoy aprendiste a leer los mensajes de la calle!</a:t>
            </a:r>
            <a:endParaRPr lang="en-US" sz="2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2026-08-02T00:16:54Z</dcterms:created>
  <dcterms:modified xsi:type="dcterms:W3CDTF">2026-08-02T00:16:54Z</dcterms:modified>
</cp:coreProperties>
</file>