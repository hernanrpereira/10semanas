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si tengo 20 dulces y me regalan 10 más, ¿puedes decirme rápido cuántos tengo, SIN escribir? Escucha respuestas veloces.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DBA 2 de Matemáticas: usar estrategias de cálculo y estimación.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es el cálculo mental.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Truco 1: sumar decenas completas.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Truco 2: contar hacia adelante y hacia atrás.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estimación (redondear). Explica: no siempre necesitamos el número exacto; a veces basta un aproximado.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Respuestas: 60, 45, 70, 26, 80. Estimaciones: ~50, ~60. Corrección colectiva rápida a mano alzada.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¿qué truco usas para sumar rápido en tu cabeza? Escucha varias estrategias.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11500" y="-1143000"/>
            <a:ext cx="3619500" cy="36195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3" name="Shape 1"/>
          <p:cNvSpPr/>
          <p:nvPr/>
        </p:nvSpPr>
        <p:spPr>
          <a:xfrm>
            <a:off x="-952500" y="7620000"/>
            <a:ext cx="4000500" cy="40005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4" name="Shape 2"/>
          <p:cNvSpPr/>
          <p:nvPr/>
        </p:nvSpPr>
        <p:spPr>
          <a:xfrm rot="-900000">
            <a:off x="1905000" y="1333500"/>
            <a:ext cx="1143000" cy="1143000"/>
          </a:xfrm>
          <a:prstGeom prst="roundRect">
            <a:avLst>
              <a:gd name="adj" fmla="val 23333"/>
            </a:avLst>
          </a:prstGeom>
          <a:solidFill>
            <a:srgbClr val="FFCA3A"/>
          </a:solidFill>
          <a:ln/>
        </p:spPr>
      </p:sp>
      <p:sp>
        <p:nvSpPr>
          <p:cNvPr id="5" name="Shape 3"/>
          <p:cNvSpPr/>
          <p:nvPr/>
        </p:nvSpPr>
        <p:spPr>
          <a:xfrm>
            <a:off x="15335250" y="7715250"/>
            <a:ext cx="857250" cy="85725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6" name="Shape 4"/>
          <p:cNvSpPr/>
          <p:nvPr/>
        </p:nvSpPr>
        <p:spPr>
          <a:xfrm>
            <a:off x="6631781" y="2219325"/>
            <a:ext cx="5024438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4358" y="2371725"/>
            <a:ext cx="234352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MATEMÁTICA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295656" y="2371725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55971" y="2371725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787874" y="3257550"/>
            <a:ext cx="8712253" cy="2638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392"/>
              </a:lnSpc>
              <a:buNone/>
            </a:pPr>
            <a:r>
              <a:rPr lang="en-US" sz="97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Cálculo Mental y Estimación</a:t>
            </a:r>
            <a:endParaRPr lang="en-US" sz="9750" dirty="0"/>
          </a:p>
        </p:txBody>
      </p:sp>
      <p:sp>
        <p:nvSpPr>
          <p:cNvPr id="11" name="Text 9"/>
          <p:cNvSpPr/>
          <p:nvPr/>
        </p:nvSpPr>
        <p:spPr>
          <a:xfrm>
            <a:off x="5359167" y="6200775"/>
            <a:ext cx="756966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¡Matemática rápida en tu cabeza! 🧠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6381750" y="7115175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FF595E"/>
          </a:solidFill>
          <a:ln/>
        </p:spPr>
      </p:sp>
      <p:sp>
        <p:nvSpPr>
          <p:cNvPr id="13" name="Text 11"/>
          <p:cNvSpPr/>
          <p:nvPr/>
        </p:nvSpPr>
        <p:spPr>
          <a:xfrm>
            <a:off x="6343650" y="7115175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20</a:t>
            </a:r>
            <a:endParaRPr lang="en-US" sz="4500" dirty="0"/>
          </a:p>
        </p:txBody>
      </p:sp>
      <p:sp>
        <p:nvSpPr>
          <p:cNvPr id="14" name="Shape 12"/>
          <p:cNvSpPr/>
          <p:nvPr/>
        </p:nvSpPr>
        <p:spPr>
          <a:xfrm>
            <a:off x="7524750" y="7115175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486650" y="7115175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+</a:t>
            </a:r>
            <a:endParaRPr lang="en-US" sz="4500" dirty="0"/>
          </a:p>
        </p:txBody>
      </p:sp>
      <p:sp>
        <p:nvSpPr>
          <p:cNvPr id="16" name="Shape 14"/>
          <p:cNvSpPr/>
          <p:nvPr/>
        </p:nvSpPr>
        <p:spPr>
          <a:xfrm>
            <a:off x="8667750" y="7115175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1982C4"/>
          </a:solidFill>
          <a:ln/>
        </p:spPr>
      </p:sp>
      <p:sp>
        <p:nvSpPr>
          <p:cNvPr id="17" name="Text 15"/>
          <p:cNvSpPr/>
          <p:nvPr/>
        </p:nvSpPr>
        <p:spPr>
          <a:xfrm>
            <a:off x="8629650" y="7115175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10</a:t>
            </a:r>
            <a:endParaRPr lang="en-US" sz="4500" dirty="0"/>
          </a:p>
        </p:txBody>
      </p:sp>
      <p:sp>
        <p:nvSpPr>
          <p:cNvPr id="18" name="Shape 16"/>
          <p:cNvSpPr/>
          <p:nvPr/>
        </p:nvSpPr>
        <p:spPr>
          <a:xfrm>
            <a:off x="9810750" y="7115175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772650" y="7115175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=</a:t>
            </a:r>
            <a:endParaRPr lang="en-US" sz="4500" dirty="0"/>
          </a:p>
        </p:txBody>
      </p:sp>
      <p:sp>
        <p:nvSpPr>
          <p:cNvPr id="20" name="Shape 18"/>
          <p:cNvSpPr/>
          <p:nvPr/>
        </p:nvSpPr>
        <p:spPr>
          <a:xfrm>
            <a:off x="10953750" y="7115175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8AC926"/>
          </a:solidFill>
          <a:ln/>
        </p:spPr>
      </p:sp>
      <p:sp>
        <p:nvSpPr>
          <p:cNvPr id="21" name="Text 19"/>
          <p:cNvSpPr/>
          <p:nvPr/>
        </p:nvSpPr>
        <p:spPr>
          <a:xfrm>
            <a:off x="10915650" y="7115175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?</a:t>
            </a:r>
            <a:endParaRPr lang="en-US" sz="4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746963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Sumar y restar </a:t>
            </a:r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memoria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, sin escribir.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1052890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Usar trucos: sumar por </a:t>
            </a:r>
            <a:pPr algn="l" indent="0" marL="0">
              <a:buNone/>
            </a:pPr>
            <a:r>
              <a:rPr lang="en-US" sz="28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decenas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contar hacia adelante.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881010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Estimar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: dar una respuesta aproximada rápida.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matemática, lápiz y tu cerebro veloz.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cálculo mental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886075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3009900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cálculo mental es hacer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operaciones en la cabeza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, sin lápiz ni papel. ¡Nos hace pensar rápido!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4657725"/>
            <a:ext cx="15049500" cy="971550"/>
          </a:xfrm>
          <a:prstGeom prst="roundRect">
            <a:avLst>
              <a:gd name="adj" fmla="val 23529"/>
            </a:avLst>
          </a:prstGeom>
          <a:solidFill>
            <a:srgbClr val="FFF3D6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924425"/>
            <a:ext cx="15716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Ejemplo: </a:t>
            </a:r>
            <a:pPr algn="l" indent="0" marL="0">
              <a:buNone/>
            </a:pPr>
            <a:r>
              <a:rPr lang="en-US" sz="2550" b="1" dirty="0">
                <a:solidFill>
                  <a:srgbClr val="C89B1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30 + 20 = 50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 Pienso «3 decenas más 2 decenas son 5 decenas».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Truco 1: sumo las decenas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62250"/>
            <a:ext cx="15106650" cy="819150"/>
          </a:xfrm>
          <a:prstGeom prst="roundRect">
            <a:avLst>
              <a:gd name="adj" fmla="val 23256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886075"/>
            <a:ext cx="157162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sumar 40 + 25: primero sumo las decenas y luego las unidades.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924300"/>
            <a:ext cx="2587079" cy="762000"/>
          </a:xfrm>
          <a:prstGeom prst="roundRect">
            <a:avLst>
              <a:gd name="adj" fmla="val 25000"/>
            </a:avLst>
          </a:prstGeom>
          <a:solidFill>
            <a:srgbClr val="FFF9EF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076700"/>
            <a:ext cx="209319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40 + 20 = 60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730079" y="4052888"/>
            <a:ext cx="4953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→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4339679" y="3924300"/>
            <a:ext cx="2304306" cy="762000"/>
          </a:xfrm>
          <a:prstGeom prst="roundRect">
            <a:avLst>
              <a:gd name="adj" fmla="val 25000"/>
            </a:avLst>
          </a:prstGeom>
          <a:solidFill>
            <a:srgbClr val="FFF9EF"/>
          </a:solidFill>
          <a:ln/>
        </p:spPr>
      </p:sp>
      <p:sp>
        <p:nvSpPr>
          <p:cNvPr id="11" name="Text 9"/>
          <p:cNvSpPr/>
          <p:nvPr/>
        </p:nvSpPr>
        <p:spPr>
          <a:xfrm>
            <a:off x="4625429" y="4076700"/>
            <a:ext cx="180900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60 + 5 = 65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834485" y="4052888"/>
            <a:ext cx="4953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→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7444085" y="3924300"/>
            <a:ext cx="2532906" cy="762000"/>
          </a:xfrm>
          <a:prstGeom prst="roundRect">
            <a:avLst>
              <a:gd name="adj" fmla="val 25000"/>
            </a:avLst>
          </a:prstGeom>
          <a:solidFill>
            <a:srgbClr val="8AC926"/>
          </a:solidFill>
          <a:ln/>
        </p:spPr>
      </p:sp>
      <p:sp>
        <p:nvSpPr>
          <p:cNvPr id="14" name="Text 12"/>
          <p:cNvSpPr/>
          <p:nvPr/>
        </p:nvSpPr>
        <p:spPr>
          <a:xfrm>
            <a:off x="7729835" y="4076700"/>
            <a:ext cx="203760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40 + 25 = 65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Truco 2: cuento saltando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62250"/>
            <a:ext cx="7191375" cy="1447800"/>
          </a:xfrm>
          <a:prstGeom prst="roundRect">
            <a:avLst>
              <a:gd name="adj" fmla="val 15789"/>
            </a:avLst>
          </a:prstGeom>
          <a:solidFill>
            <a:srgbClr val="E9F5D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28950"/>
            <a:ext cx="715613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FA31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⬆️ Para SUMAR, cuento hacia adelante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95400" y="3524250"/>
            <a:ext cx="715613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27 + 3 → 28, 29, 30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8524875" y="2762250"/>
            <a:ext cx="7191375" cy="1447800"/>
          </a:xfrm>
          <a:prstGeom prst="roundRect">
            <a:avLst>
              <a:gd name="adj" fmla="val 15789"/>
            </a:avLst>
          </a:prstGeom>
          <a:solidFill>
            <a:srgbClr val="E3F0FA"/>
          </a:solidFill>
          <a:ln/>
        </p:spPr>
      </p:sp>
      <p:sp>
        <p:nvSpPr>
          <p:cNvPr id="9" name="Text 7"/>
          <p:cNvSpPr/>
          <p:nvPr/>
        </p:nvSpPr>
        <p:spPr>
          <a:xfrm>
            <a:off x="8867775" y="3028950"/>
            <a:ext cx="715613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⬇️ Para RESTAR, cuento hacia atrás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867775" y="3524250"/>
            <a:ext cx="715613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30 − 3 → 29, 28, 27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52500" y="4552950"/>
            <a:ext cx="180213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¡Truco extra! Sumar 10 es fácil: solo cambio la decena (43 + 10 = 53).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estimación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809875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933700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Estimar es dar una respuesta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aproximada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, cercana a la real. Sirve para calcular rápido.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4543425"/>
            <a:ext cx="15049500" cy="885825"/>
          </a:xfrm>
          <a:prstGeom prst="roundRect">
            <a:avLst>
              <a:gd name="adj" fmla="val 25806"/>
            </a:avLst>
          </a:prstGeom>
          <a:solidFill>
            <a:srgbClr val="FFF9EF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791075"/>
            <a:ext cx="157162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19 + 22 está cerca de </a:t>
            </a:r>
            <a:pPr algn="l" indent="0" marL="0">
              <a:buNone/>
            </a:pPr>
            <a:r>
              <a:rPr lang="en-US" sz="255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20 + 20 = 40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. ¡La respuesta será alrededor de 40!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2857500"/>
            <a:ext cx="15601950" cy="18002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162300"/>
            <a:ext cx="162401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Calcula mentalmente y escribe solo la respuesta: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371600" y="3705225"/>
            <a:ext cx="2000696" cy="647700"/>
          </a:xfrm>
          <a:prstGeom prst="roundRect">
            <a:avLst>
              <a:gd name="adj" fmla="val 23529"/>
            </a:avLst>
          </a:prstGeom>
          <a:solidFill>
            <a:srgbClr val="FFF9EF"/>
          </a:solidFill>
          <a:ln/>
        </p:spPr>
      </p:sp>
      <p:sp>
        <p:nvSpPr>
          <p:cNvPr id="8" name="Text 6"/>
          <p:cNvSpPr/>
          <p:nvPr/>
        </p:nvSpPr>
        <p:spPr>
          <a:xfrm>
            <a:off x="1619250" y="3800475"/>
            <a:ext cx="158159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40 + 20 =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524696" y="3705225"/>
            <a:ext cx="1908572" cy="647700"/>
          </a:xfrm>
          <a:prstGeom prst="roundRect">
            <a:avLst>
              <a:gd name="adj" fmla="val 23529"/>
            </a:avLst>
          </a:prstGeom>
          <a:solidFill>
            <a:srgbClr val="FFF9EF"/>
          </a:solidFill>
          <a:ln/>
        </p:spPr>
      </p:sp>
      <p:sp>
        <p:nvSpPr>
          <p:cNvPr id="10" name="Text 8"/>
          <p:cNvSpPr/>
          <p:nvPr/>
        </p:nvSpPr>
        <p:spPr>
          <a:xfrm>
            <a:off x="3772346" y="3800475"/>
            <a:ext cx="148947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30 + 15 =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585668" y="3705225"/>
            <a:ext cx="1918097" cy="647700"/>
          </a:xfrm>
          <a:prstGeom prst="roundRect">
            <a:avLst>
              <a:gd name="adj" fmla="val 23529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5833318" y="3800475"/>
            <a:ext cx="149899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60 + 10 =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656165" y="3705225"/>
            <a:ext cx="1789956" cy="647700"/>
          </a:xfrm>
          <a:prstGeom prst="roundRect">
            <a:avLst>
              <a:gd name="adj" fmla="val 23529"/>
            </a:avLst>
          </a:prstGeom>
          <a:solidFill>
            <a:srgbClr val="FFF9EF"/>
          </a:solidFill>
          <a:ln/>
        </p:spPr>
      </p:sp>
      <p:sp>
        <p:nvSpPr>
          <p:cNvPr id="14" name="Text 12"/>
          <p:cNvSpPr/>
          <p:nvPr/>
        </p:nvSpPr>
        <p:spPr>
          <a:xfrm>
            <a:off x="7903815" y="3800475"/>
            <a:ext cx="137085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29 − 3 =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598521" y="3705225"/>
            <a:ext cx="1980456" cy="647700"/>
          </a:xfrm>
          <a:prstGeom prst="roundRect">
            <a:avLst>
              <a:gd name="adj" fmla="val 23529"/>
            </a:avLst>
          </a:prstGeom>
          <a:solidFill>
            <a:srgbClr val="FFF9EF"/>
          </a:solidFill>
          <a:ln/>
        </p:spPr>
      </p:sp>
      <p:sp>
        <p:nvSpPr>
          <p:cNvPr id="16" name="Text 14"/>
          <p:cNvSpPr/>
          <p:nvPr/>
        </p:nvSpPr>
        <p:spPr>
          <a:xfrm>
            <a:off x="9846171" y="3800475"/>
            <a:ext cx="156135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50 + 30 =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52500" y="5000625"/>
            <a:ext cx="15601950" cy="971550"/>
          </a:xfrm>
          <a:prstGeom prst="roundRect">
            <a:avLst>
              <a:gd name="adj" fmla="val 27451"/>
            </a:avLst>
          </a:prstGeom>
          <a:solidFill>
            <a:srgbClr val="6A4C93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5267325"/>
            <a:ext cx="162401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Estima (respuesta aproximada): </a:t>
            </a:r>
            <a:pPr algn="l" indent="0" marL="0">
              <a:buNone/>
            </a:pPr>
            <a:r>
              <a:rPr lang="en-US" sz="240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21 + 28 ≈ ____ 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· </a:t>
            </a:r>
            <a:pPr algn="l" indent="0" marL="0">
              <a:buNone/>
            </a:pPr>
            <a:r>
              <a:rPr lang="en-US" sz="240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39 + 22 ≈ ____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AC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414588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547938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00438"/>
            <a:ext cx="15697200" cy="2228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41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truco usas para sumar rápido en tu cabeza?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952500" y="6148388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9F5D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cuéntanos tu estrategia.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119938"/>
            <a:ext cx="7068889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91388"/>
            <a:ext cx="651895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tu cerebro calculó a toda velocidad!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2026-07-26T16:20:28Z</dcterms:created>
  <dcterms:modified xsi:type="dcterms:W3CDTF">2026-07-26T16:20:28Z</dcterms:modified>
</cp:coreProperties>
</file>