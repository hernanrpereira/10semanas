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Saluda. Pregunta detonadora: ¿qué partes del computador conocen? ¿Para qué sirve cada una? Si hay un computador o el proyector, señálalo. Escucha ideas.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los objetivos. Guía 30: Apropiación y uso de la tecnología. Hoy conocemos y cuidamos el computador.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Definición de computador. Temporizador de 5 minutos. Explica que es una máquina que nos ayuda a trabajar, aprender y jugar.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4 partes principales con lo que hace cada una. Señala en el proyector si puedes.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Otras partes: parlantes, cámara, impresora.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Reglas para cuidar los equipos. Léanlas en coro.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Práctica individual: 10 minutos. Respuestas parte 1: monitor-muestra imágenes, teclado-escribir, mouse-mover flecha, CPU-cerebro. Corrección colectiva.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 verificación: nombra 3 partes del computador y una forma de cuidarlo. Pide varios ejemplos. Felicita y anuncia la ficha de evaluación.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0" y="-1143000"/>
            <a:ext cx="3619500" cy="3619500"/>
          </a:xfrm>
          <a:prstGeom prst="ellipse">
            <a:avLst/>
          </a:prstGeom>
          <a:solidFill>
            <a:srgbClr val="14689D"/>
          </a:solidFill>
          <a:ln/>
        </p:spPr>
      </p:sp>
      <p:sp>
        <p:nvSpPr>
          <p:cNvPr id="3" name="Shape 1"/>
          <p:cNvSpPr/>
          <p:nvPr/>
        </p:nvSpPr>
        <p:spPr>
          <a:xfrm>
            <a:off x="15240000" y="7620000"/>
            <a:ext cx="4000500" cy="4000500"/>
          </a:xfrm>
          <a:prstGeom prst="ellipse">
            <a:avLst/>
          </a:prstGeom>
          <a:solidFill>
            <a:srgbClr val="6EA11E"/>
          </a:solidFill>
          <a:ln/>
        </p:spPr>
      </p:sp>
      <p:sp>
        <p:nvSpPr>
          <p:cNvPr id="4" name="Shape 2"/>
          <p:cNvSpPr/>
          <p:nvPr/>
        </p:nvSpPr>
        <p:spPr>
          <a:xfrm rot="1080000">
            <a:off x="15049500" y="1143000"/>
            <a:ext cx="1143001" cy="1143001"/>
          </a:xfrm>
          <a:prstGeom prst="roundRect">
            <a:avLst>
              <a:gd name="adj" fmla="val 23333"/>
            </a:avLst>
          </a:prstGeom>
          <a:solidFill>
            <a:srgbClr val="7F5D00"/>
          </a:solidFill>
          <a:ln/>
        </p:spPr>
      </p:sp>
      <p:sp>
        <p:nvSpPr>
          <p:cNvPr id="5" name="Shape 3"/>
          <p:cNvSpPr/>
          <p:nvPr/>
        </p:nvSpPr>
        <p:spPr>
          <a:xfrm>
            <a:off x="1905000" y="7715250"/>
            <a:ext cx="857250" cy="857250"/>
          </a:xfrm>
          <a:prstGeom prst="ellipse">
            <a:avLst/>
          </a:prstGeom>
          <a:solidFill>
            <a:srgbClr val="970005"/>
          </a:solidFill>
          <a:ln/>
        </p:spPr>
      </p:sp>
      <p:sp>
        <p:nvSpPr>
          <p:cNvPr id="6" name="Shape 4"/>
          <p:cNvSpPr/>
          <p:nvPr/>
        </p:nvSpPr>
        <p:spPr>
          <a:xfrm>
            <a:off x="6646218" y="2767013"/>
            <a:ext cx="4995416" cy="695325"/>
          </a:xfrm>
          <a:prstGeom prst="roundRect">
            <a:avLst>
              <a:gd name="adj" fmla="val 50000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76200" dir="5400000">
              <a:srgbClr val="222233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960245" y="2919413"/>
            <a:ext cx="2311598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49AAE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TECNOLOGÍA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281071" y="2919413"/>
            <a:ext cx="22607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•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541386" y="2919413"/>
            <a:ext cx="176120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GRADO 2°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4534719" y="3805237"/>
            <a:ext cx="9218563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2278"/>
              </a:lnSpc>
              <a:buNone/>
            </a:pPr>
            <a:r>
              <a:rPr lang="en-US" sz="975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El Computador</a:t>
            </a:r>
            <a:endParaRPr lang="en-US" sz="9750" dirty="0"/>
          </a:p>
        </p:txBody>
      </p:sp>
      <p:sp>
        <p:nvSpPr>
          <p:cNvPr id="11" name="Text 9"/>
          <p:cNvSpPr/>
          <p:nvPr/>
        </p:nvSpPr>
        <p:spPr>
          <a:xfrm>
            <a:off x="6330471" y="5386388"/>
            <a:ext cx="5626909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Sus partes y cómo cuidarlo</a:t>
            </a:r>
            <a:endParaRPr lang="en-US" sz="3150" dirty="0"/>
          </a:p>
        </p:txBody>
      </p:sp>
      <p:sp>
        <p:nvSpPr>
          <p:cNvPr id="12" name="Shape 10"/>
          <p:cNvSpPr/>
          <p:nvPr/>
        </p:nvSpPr>
        <p:spPr>
          <a:xfrm>
            <a:off x="5906988" y="6272213"/>
            <a:ext cx="1513136" cy="1247775"/>
          </a:xfrm>
          <a:prstGeom prst="roundRect">
            <a:avLst>
              <a:gd name="adj" fmla="val 21374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54638" y="6405563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🖥️</a:t>
            </a:r>
            <a:endParaRPr lang="en-US" sz="5400" dirty="0"/>
          </a:p>
        </p:txBody>
      </p:sp>
      <p:sp>
        <p:nvSpPr>
          <p:cNvPr id="14" name="Shape 12"/>
          <p:cNvSpPr/>
          <p:nvPr/>
        </p:nvSpPr>
        <p:spPr>
          <a:xfrm>
            <a:off x="7648724" y="6272213"/>
            <a:ext cx="1513136" cy="1247775"/>
          </a:xfrm>
          <a:prstGeom prst="roundRect">
            <a:avLst>
              <a:gd name="adj" fmla="val 21374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96374" y="6405563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⌨️</a:t>
            </a:r>
            <a:endParaRPr lang="en-US" sz="5400" dirty="0"/>
          </a:p>
        </p:txBody>
      </p:sp>
      <p:sp>
        <p:nvSpPr>
          <p:cNvPr id="16" name="Shape 14"/>
          <p:cNvSpPr/>
          <p:nvPr/>
        </p:nvSpPr>
        <p:spPr>
          <a:xfrm>
            <a:off x="9390459" y="6272213"/>
            <a:ext cx="1248668" cy="1247775"/>
          </a:xfrm>
          <a:prstGeom prst="roundRect">
            <a:avLst>
              <a:gd name="adj" fmla="val 21374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38109" y="6405563"/>
            <a:ext cx="753368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🖱️</a:t>
            </a:r>
            <a:endParaRPr lang="en-US" sz="5400" dirty="0"/>
          </a:p>
        </p:txBody>
      </p:sp>
      <p:sp>
        <p:nvSpPr>
          <p:cNvPr id="18" name="Shape 16"/>
          <p:cNvSpPr/>
          <p:nvPr/>
        </p:nvSpPr>
        <p:spPr>
          <a:xfrm>
            <a:off x="10867727" y="6272213"/>
            <a:ext cx="1513136" cy="1247775"/>
          </a:xfrm>
          <a:prstGeom prst="roundRect">
            <a:avLst>
              <a:gd name="adj" fmla="val 21374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115377" y="6405563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🔊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D2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aprenderemos hoy?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952500" y="2371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33500" y="2638425"/>
            <a:ext cx="723900" cy="723900"/>
          </a:xfrm>
          <a:prstGeom prst="ellipse">
            <a:avLst/>
          </a:prstGeom>
          <a:solidFill>
            <a:srgbClr val="970005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638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324100" y="2757488"/>
            <a:ext cx="887444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Conocer las </a:t>
            </a:r>
            <a:pPr algn="l" indent="0" marL="0">
              <a:buNone/>
            </a:pPr>
            <a:r>
              <a:rPr lang="en-US" sz="2850" b="1" dirty="0">
                <a:solidFill>
                  <a:srgbClr val="49AAE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partes principales </a:t>
            </a:r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del computador.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3895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33500" y="4162425"/>
            <a:ext cx="723900" cy="723900"/>
          </a:xfrm>
          <a:prstGeom prst="ellipse">
            <a:avLst/>
          </a:prstGeom>
          <a:solidFill>
            <a:srgbClr val="7F5D00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162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324100" y="4281488"/>
            <a:ext cx="610494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Saber </a:t>
            </a:r>
            <a:pPr algn="l" indent="0" marL="0">
              <a:buNone/>
            </a:pPr>
            <a:r>
              <a:rPr lang="en-US" sz="2850" b="1" dirty="0">
                <a:solidFill>
                  <a:srgbClr val="A3DC4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qué sirve </a:t>
            </a:r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cada parte.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52500" y="5419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33500" y="5686425"/>
            <a:ext cx="723900" cy="723900"/>
          </a:xfrm>
          <a:prstGeom prst="ellipse">
            <a:avLst/>
          </a:prstGeom>
          <a:solidFill>
            <a:srgbClr val="6EA11E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86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2324100" y="5805488"/>
            <a:ext cx="7918207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Aprender a </a:t>
            </a:r>
            <a:pPr algn="l" indent="0" marL="0">
              <a:buNone/>
            </a:pPr>
            <a:r>
              <a:rPr lang="en-US" sz="285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cuidar </a:t>
            </a:r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los equipos del colegio.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52500" y="7172325"/>
            <a:ext cx="18021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Necesitas: cuaderno de tecnología, lápiz y colores.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14689D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71650"/>
            <a:ext cx="1802130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585D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es el computador?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886075"/>
            <a:ext cx="15106650" cy="1390650"/>
          </a:xfrm>
          <a:prstGeom prst="roundRect">
            <a:avLst>
              <a:gd name="adj" fmla="val 13699"/>
            </a:avLst>
          </a:prstGeom>
          <a:blipFill>
            <a:blip r:embed="rId1"/>
            <a:tile tx="0" ty="0" sx="100000" sy="100000" flip="none" algn="tl"/>
          </a:blipFill>
          <a:ln w="28575">
            <a:solidFill>
              <a:srgbClr val="1544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3009900"/>
            <a:ext cx="1471612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El computador es una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49AAE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máquina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que nos ayuda a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A3DC4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trabajar, aprender, comunicarnos y jugar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52500" y="4657725"/>
            <a:ext cx="15049500" cy="1409700"/>
          </a:xfrm>
          <a:prstGeom prst="roundRect">
            <a:avLst>
              <a:gd name="adj" fmla="val 16216"/>
            </a:avLst>
          </a:prstGeom>
          <a:solidFill>
            <a:srgbClr val="392800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4924425"/>
            <a:ext cx="14716125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Tiene partes que podemos </a:t>
            </a:r>
            <a:pPr algn="l" indent="0" marL="0">
              <a:buNone/>
            </a:pPr>
            <a:r>
              <a:rPr lang="en-US" sz="2550" b="1" dirty="0">
                <a:solidFill>
                  <a:srgbClr val="E5BC4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tocar </a:t>
            </a:r>
            <a:pPr algn="l" indent="0" marL="0">
              <a:buNone/>
            </a:pPr>
            <a:r>
              <a:rPr lang="en-US" sz="25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(hardware) como la pantalla y el teclado, y programas que vemos dentro (software).</a:t>
            </a:r>
            <a:endParaRPr lang="en-US" sz="2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14689D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49AAE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Las partes principales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809875"/>
            <a:ext cx="7277100" cy="1152525"/>
          </a:xfrm>
          <a:prstGeom prst="roundRect">
            <a:avLst>
              <a:gd name="adj" fmla="val 18182"/>
            </a:avLst>
          </a:prstGeom>
          <a:solidFill>
            <a:srgbClr val="3D2600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3005138"/>
            <a:ext cx="808583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🖥️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199233" y="3000375"/>
            <a:ext cx="571596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585D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Monitor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2199233" y="3409950"/>
            <a:ext cx="571596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Muestra las imágenes, como un televisor.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439150" y="2809875"/>
            <a:ext cx="7277100" cy="1152525"/>
          </a:xfrm>
          <a:prstGeom prst="roundRect">
            <a:avLst>
              <a:gd name="adj" fmla="val 18182"/>
            </a:avLst>
          </a:prstGeom>
          <a:solidFill>
            <a:srgbClr val="3D2600"/>
          </a:solidFill>
          <a:ln/>
        </p:spPr>
      </p:sp>
      <p:sp>
        <p:nvSpPr>
          <p:cNvPr id="10" name="Text 8"/>
          <p:cNvSpPr/>
          <p:nvPr/>
        </p:nvSpPr>
        <p:spPr>
          <a:xfrm>
            <a:off x="8743950" y="3005138"/>
            <a:ext cx="808583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⌨️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9685883" y="3000375"/>
            <a:ext cx="500693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49AAE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Teclado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685883" y="3409950"/>
            <a:ext cx="500693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Sirve para escribir letras y números.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52500" y="4171950"/>
            <a:ext cx="7277100" cy="1152525"/>
          </a:xfrm>
          <a:prstGeom prst="roundRect">
            <a:avLst>
              <a:gd name="adj" fmla="val 18182"/>
            </a:avLst>
          </a:prstGeom>
          <a:solidFill>
            <a:srgbClr val="3D2600"/>
          </a:solidFill>
          <a:ln/>
        </p:spPr>
      </p:sp>
      <p:sp>
        <p:nvSpPr>
          <p:cNvPr id="14" name="Text 12"/>
          <p:cNvSpPr/>
          <p:nvPr/>
        </p:nvSpPr>
        <p:spPr>
          <a:xfrm>
            <a:off x="1257300" y="4367213"/>
            <a:ext cx="602903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🖱️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993553" y="4362450"/>
            <a:ext cx="394707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A3DC4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Mouse (ratón)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993553" y="4772025"/>
            <a:ext cx="394707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Mueve la flechita y hace clic.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8439150" y="4171950"/>
            <a:ext cx="7277100" cy="1152525"/>
          </a:xfrm>
          <a:prstGeom prst="roundRect">
            <a:avLst>
              <a:gd name="adj" fmla="val 18182"/>
            </a:avLst>
          </a:prstGeom>
          <a:solidFill>
            <a:srgbClr val="3D2600"/>
          </a:solidFill>
          <a:ln/>
        </p:spPr>
      </p:sp>
      <p:sp>
        <p:nvSpPr>
          <p:cNvPr id="18" name="Text 16"/>
          <p:cNvSpPr/>
          <p:nvPr/>
        </p:nvSpPr>
        <p:spPr>
          <a:xfrm>
            <a:off x="8743950" y="4367213"/>
            <a:ext cx="62165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🗄️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9498955" y="4362450"/>
            <a:ext cx="477282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9276B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CPU (torre)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498955" y="4772025"/>
            <a:ext cx="477282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 el cerebro: hace funcionar todo.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14689D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A3DC4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Otras partes que ayudan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809875"/>
            <a:ext cx="14287500" cy="1038225"/>
          </a:xfrm>
          <a:prstGeom prst="roundRect">
            <a:avLst>
              <a:gd name="adj" fmla="val 20183"/>
            </a:avLst>
          </a:prstGeom>
          <a:solidFill>
            <a:srgbClr val="3D2600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3000375"/>
            <a:ext cx="703957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🔊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094607" y="3109913"/>
            <a:ext cx="900819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585D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Parlantes: </a:t>
            </a:r>
            <a:pPr algn="l" indent="0" marL="0">
              <a:buNone/>
            </a:pPr>
            <a:r>
              <a:rPr lang="en-US" sz="25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nos dejan escuchar la música y los sonidos.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52500" y="4038600"/>
            <a:ext cx="14287500" cy="1038225"/>
          </a:xfrm>
          <a:prstGeom prst="roundRect">
            <a:avLst>
              <a:gd name="adj" fmla="val 20183"/>
            </a:avLst>
          </a:prstGeom>
          <a:solidFill>
            <a:srgbClr val="3D2600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4229100"/>
            <a:ext cx="703957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📷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094607" y="4338638"/>
            <a:ext cx="773910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49AAE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Cámara web: </a:t>
            </a:r>
            <a:pPr algn="l" indent="0" marL="0">
              <a:buNone/>
            </a:pPr>
            <a:r>
              <a:rPr lang="en-US" sz="25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nos ve para hacer videollamadas.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52500" y="5267325"/>
            <a:ext cx="14287500" cy="1038225"/>
          </a:xfrm>
          <a:prstGeom prst="roundRect">
            <a:avLst>
              <a:gd name="adj" fmla="val 20183"/>
            </a:avLst>
          </a:prstGeom>
          <a:solidFill>
            <a:srgbClr val="3D2600"/>
          </a:solidFill>
          <a:ln/>
        </p:spPr>
      </p:sp>
      <p:sp>
        <p:nvSpPr>
          <p:cNvPr id="12" name="Text 10"/>
          <p:cNvSpPr/>
          <p:nvPr/>
        </p:nvSpPr>
        <p:spPr>
          <a:xfrm>
            <a:off x="1257300" y="5457825"/>
            <a:ext cx="703957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🖨️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094607" y="5567363"/>
            <a:ext cx="989076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9276B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Impresora: </a:t>
            </a:r>
            <a:pPr algn="l" indent="0" marL="0">
              <a:buNone/>
            </a:pPr>
            <a:r>
              <a:rPr lang="en-US" sz="25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pasa al papel lo que hacemos en el computador.</a:t>
            </a:r>
            <a:endParaRPr lang="en-US" sz="2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14689D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4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9276B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Cuido los equipos así 💙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886075"/>
            <a:ext cx="571500" cy="571500"/>
          </a:xfrm>
          <a:prstGeom prst="ellipse">
            <a:avLst/>
          </a:prstGeom>
          <a:solidFill>
            <a:srgbClr val="6EA11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886075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✓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733550" y="2952750"/>
            <a:ext cx="823515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Tengo las manos limpias y secas antes de usarlo.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52500" y="3629025"/>
            <a:ext cx="571500" cy="571500"/>
          </a:xfrm>
          <a:prstGeom prst="ellipse">
            <a:avLst/>
          </a:prstGeom>
          <a:solidFill>
            <a:srgbClr val="6EA11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629025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✓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733550" y="3695700"/>
            <a:ext cx="665157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 como ni bebo cerca del computador.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52500" y="4371975"/>
            <a:ext cx="571500" cy="571500"/>
          </a:xfrm>
          <a:prstGeom prst="ellipse">
            <a:avLst/>
          </a:prstGeom>
          <a:solidFill>
            <a:srgbClr val="6EA11E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371975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✓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733550" y="4438650"/>
            <a:ext cx="692693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Toco las teclas con suavidad, sin golpear.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52500" y="5114925"/>
            <a:ext cx="571500" cy="571500"/>
          </a:xfrm>
          <a:prstGeom prst="ellipse">
            <a:avLst/>
          </a:prstGeom>
          <a:solidFill>
            <a:srgbClr val="970005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114925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✗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733550" y="5181600"/>
            <a:ext cx="6528956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 jalo los cables ni apago de repente.</a:t>
            </a:r>
            <a:endParaRPr lang="en-US" sz="2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2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6488906" cy="628650"/>
          </a:xfrm>
          <a:prstGeom prst="roundRect">
            <a:avLst>
              <a:gd name="adj" fmla="val 30303"/>
            </a:avLst>
          </a:prstGeom>
          <a:solidFill>
            <a:srgbClr val="970005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611207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AHORA TÚ · RESUELVE EN TU CUADERNO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71650"/>
            <a:ext cx="1802130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¡A practicar!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952500" y="2933700"/>
            <a:ext cx="15125700" cy="2362200"/>
          </a:xfrm>
          <a:prstGeom prst="roundRect">
            <a:avLst>
              <a:gd name="adj" fmla="val 11290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3238500"/>
            <a:ext cx="157162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1. Escribe el nombre de cada parte: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2172987" y="3781425"/>
            <a:ext cx="1968951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🖥️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172987" y="4648200"/>
            <a:ext cx="196895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________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5744862" y="3781425"/>
            <a:ext cx="1968951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⌨️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744862" y="4648200"/>
            <a:ext cx="196895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________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316737" y="3781425"/>
            <a:ext cx="1968951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🖱️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9316737" y="4648200"/>
            <a:ext cx="196895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________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2888612" y="3781425"/>
            <a:ext cx="1968951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🗄️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12888612" y="4648200"/>
            <a:ext cx="196895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________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52500" y="5676900"/>
            <a:ext cx="15125700" cy="1047750"/>
          </a:xfrm>
          <a:prstGeom prst="roundRect">
            <a:avLst>
              <a:gd name="adj" fmla="val 25455"/>
            </a:avLst>
          </a:prstGeom>
          <a:solidFill>
            <a:srgbClr val="553D76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5981700"/>
            <a:ext cx="157162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2. Escribe </a:t>
            </a:r>
            <a:pPr algn="l" indent="0" marL="0">
              <a:buNone/>
            </a:pPr>
            <a:r>
              <a:rPr lang="en-US" sz="2550" b="1" dirty="0">
                <a:solidFill>
                  <a:srgbClr val="FFCC4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 reglas </a:t>
            </a:r>
            <a:pPr algn="l" indent="0" marL="0">
              <a:buNone/>
            </a:pPr>
            <a:r>
              <a:rPr lang="en-US" sz="2550" b="1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cuidar el computador del colegio.</a:t>
            </a:r>
            <a:endParaRPr lang="en-US" sz="2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689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458492"/>
            <a:ext cx="2960340" cy="628650"/>
          </a:xfrm>
          <a:prstGeom prst="roundRect">
            <a:avLst>
              <a:gd name="adj" fmla="val 30303"/>
            </a:avLst>
          </a:prstGeom>
          <a:solidFill>
            <a:srgbClr val="7F5D00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2591842"/>
            <a:ext cx="24776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TERMINAR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3544342"/>
            <a:ext cx="15697200" cy="2141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359"/>
              </a:lnSpc>
              <a:buNone/>
            </a:pPr>
            <a:r>
              <a:rPr lang="en-US" sz="72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Nombra 3 partes del computador y una forma de cuidarlo.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52500" y="6104483"/>
            <a:ext cx="180213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8D0E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Levanta la mano y cuéntanos.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52500" y="7076033"/>
            <a:ext cx="8326487" cy="752475"/>
          </a:xfrm>
          <a:prstGeom prst="roundRect">
            <a:avLst>
              <a:gd name="adj" fmla="val 50000"/>
            </a:avLst>
          </a:prstGeom>
          <a:solidFill>
            <a:srgbClr val="181A1B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7247483"/>
            <a:ext cx="781428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49AAE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¡Hoy aprendiste a usar la tecnología con cuidado!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2026-07-21T12:02:37Z</dcterms:created>
  <dcterms:modified xsi:type="dcterms:W3CDTF">2026-07-21T12:02:37Z</dcterms:modified>
</cp:coreProperties>
</file>