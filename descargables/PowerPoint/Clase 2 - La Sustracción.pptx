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 y recuerda la clase de suma. Pregunta detonadora: Doña Rosa tenía 245 empanadas y vendió 118. ¿Cómo sabemos cuántas le quedan? Escucha ideas antes de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objetivos con los niños. DBA 1 de Matemáticas. Conecta con la clase anterior: la resta es la operación contraria a la suma.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niños copian la definición y las partes de la resta. Temporizador de 5 minutos. Recalca los nombres: minuendo, sustraendo y diferencia.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Resta sin desagrupación: 457 − 234. Recuerda: siempre el número mayor va arriba.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Resta con desagrupación: 425 − 183. Señala cómo el 4 presta 1 a la columna de las decenas: el 2 se convierte en 12 y el 4 queda en 3. Refuerza luego en el tablero con material concreto.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4 pasos para restar prestando. Léanlos en coro antes de iniciar el temporizador.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individual: 10 minutos. Respuestas: a) 334, b) 316, c) 312, d) 336. Problema: quedan 112 personas. Corrige en el tablero con voluntarios.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verificación: pedimos prestado cuando la cifra de arriba es menor que la de abajo. Felicita al grupo y anuncia la ficha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1500" y="-1143000"/>
            <a:ext cx="3619500" cy="3619500"/>
          </a:xfrm>
          <a:prstGeom prst="ellipse">
            <a:avLst/>
          </a:prstGeom>
          <a:solidFill>
            <a:srgbClr val="6EA11E"/>
          </a:solidFill>
          <a:ln/>
        </p:spPr>
      </p:sp>
      <p:sp>
        <p:nvSpPr>
          <p:cNvPr id="3" name="Shape 1"/>
          <p:cNvSpPr/>
          <p:nvPr/>
        </p:nvSpPr>
        <p:spPr>
          <a:xfrm>
            <a:off x="-952500" y="7620000"/>
            <a:ext cx="4000500" cy="4000500"/>
          </a:xfrm>
          <a:prstGeom prst="ellipse">
            <a:avLst/>
          </a:prstGeom>
          <a:solidFill>
            <a:srgbClr val="553D76"/>
          </a:solidFill>
          <a:ln/>
        </p:spPr>
      </p:sp>
      <p:sp>
        <p:nvSpPr>
          <p:cNvPr id="4" name="Shape 2"/>
          <p:cNvSpPr/>
          <p:nvPr/>
        </p:nvSpPr>
        <p:spPr>
          <a:xfrm rot="-900000">
            <a:off x="1905000" y="1333500"/>
            <a:ext cx="1143000" cy="1143000"/>
          </a:xfrm>
          <a:prstGeom prst="roundRect">
            <a:avLst>
              <a:gd name="adj" fmla="val 23333"/>
            </a:avLst>
          </a:prstGeom>
          <a:solidFill>
            <a:srgbClr val="7F5D00"/>
          </a:solidFill>
          <a:ln/>
        </p:spPr>
      </p:sp>
      <p:sp>
        <p:nvSpPr>
          <p:cNvPr id="5" name="Shape 3"/>
          <p:cNvSpPr/>
          <p:nvPr/>
        </p:nvSpPr>
        <p:spPr>
          <a:xfrm>
            <a:off x="15335250" y="7715250"/>
            <a:ext cx="857250" cy="857250"/>
          </a:xfrm>
          <a:prstGeom prst="ellipse">
            <a:avLst/>
          </a:prstGeom>
          <a:solidFill>
            <a:srgbClr val="970005"/>
          </a:solidFill>
          <a:ln/>
        </p:spPr>
      </p:sp>
      <p:sp>
        <p:nvSpPr>
          <p:cNvPr id="6" name="Shape 4"/>
          <p:cNvSpPr/>
          <p:nvPr/>
        </p:nvSpPr>
        <p:spPr>
          <a:xfrm>
            <a:off x="6631781" y="2805113"/>
            <a:ext cx="5024438" cy="695325"/>
          </a:xfrm>
          <a:prstGeom prst="roundRect">
            <a:avLst>
              <a:gd name="adj" fmla="val 50000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76200" dir="5400000">
              <a:srgbClr val="222233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44358" y="2957513"/>
            <a:ext cx="234352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MATEMÁTICA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295656" y="2957513"/>
            <a:ext cx="226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•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55971" y="2957513"/>
            <a:ext cx="17612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GRADO 2°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3901812" y="3843338"/>
            <a:ext cx="10484376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2873"/>
              </a:lnSpc>
              <a:buNone/>
            </a:pPr>
            <a:r>
              <a:rPr lang="en-US" sz="1125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La Sustracción</a:t>
            </a:r>
            <a:endParaRPr lang="en-US" sz="11250" dirty="0"/>
          </a:p>
        </p:txBody>
      </p:sp>
      <p:sp>
        <p:nvSpPr>
          <p:cNvPr id="11" name="Text 9"/>
          <p:cNvSpPr/>
          <p:nvPr/>
        </p:nvSpPr>
        <p:spPr>
          <a:xfrm>
            <a:off x="4418811" y="5614988"/>
            <a:ext cx="945037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Restas de 3 dígitos: sin prestar y prestando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5238750" y="6529388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553D76"/>
          </a:solidFill>
          <a:ln/>
        </p:spPr>
      </p:sp>
      <p:sp>
        <p:nvSpPr>
          <p:cNvPr id="13" name="Text 11"/>
          <p:cNvSpPr/>
          <p:nvPr/>
        </p:nvSpPr>
        <p:spPr>
          <a:xfrm>
            <a:off x="5200650" y="6529388"/>
            <a:ext cx="10287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</a:t>
            </a:r>
            <a:endParaRPr lang="en-US" sz="4800" dirty="0"/>
          </a:p>
        </p:txBody>
      </p:sp>
      <p:sp>
        <p:nvSpPr>
          <p:cNvPr id="14" name="Shape 12"/>
          <p:cNvSpPr/>
          <p:nvPr/>
        </p:nvSpPr>
        <p:spPr>
          <a:xfrm>
            <a:off x="6381750" y="6529388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7F5D00"/>
          </a:solidFill>
          <a:ln/>
        </p:spPr>
      </p:sp>
      <p:sp>
        <p:nvSpPr>
          <p:cNvPr id="15" name="Text 13"/>
          <p:cNvSpPr/>
          <p:nvPr/>
        </p:nvSpPr>
        <p:spPr>
          <a:xfrm>
            <a:off x="6343650" y="6529388"/>
            <a:ext cx="10287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4800" dirty="0"/>
          </a:p>
        </p:txBody>
      </p:sp>
      <p:sp>
        <p:nvSpPr>
          <p:cNvPr id="16" name="Shape 14"/>
          <p:cNvSpPr/>
          <p:nvPr/>
        </p:nvSpPr>
        <p:spPr>
          <a:xfrm>
            <a:off x="7524750" y="6529388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970005"/>
          </a:solidFill>
          <a:ln/>
        </p:spPr>
      </p:sp>
      <p:sp>
        <p:nvSpPr>
          <p:cNvPr id="17" name="Text 15"/>
          <p:cNvSpPr/>
          <p:nvPr/>
        </p:nvSpPr>
        <p:spPr>
          <a:xfrm>
            <a:off x="7486650" y="6529388"/>
            <a:ext cx="10287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5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8667750" y="6529388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181A1B"/>
          </a:solidFill>
          <a:ln/>
        </p:spPr>
      </p:sp>
      <p:sp>
        <p:nvSpPr>
          <p:cNvPr id="19" name="Text 17"/>
          <p:cNvSpPr/>
          <p:nvPr/>
        </p:nvSpPr>
        <p:spPr>
          <a:xfrm>
            <a:off x="8629650" y="6529388"/>
            <a:ext cx="10287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−</a:t>
            </a:r>
            <a:endParaRPr lang="en-US" sz="4800" dirty="0"/>
          </a:p>
        </p:txBody>
      </p:sp>
      <p:sp>
        <p:nvSpPr>
          <p:cNvPr id="20" name="Shape 18"/>
          <p:cNvSpPr/>
          <p:nvPr/>
        </p:nvSpPr>
        <p:spPr>
          <a:xfrm>
            <a:off x="9810750" y="6529388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14689D"/>
          </a:solidFill>
          <a:ln/>
        </p:spPr>
      </p:sp>
      <p:sp>
        <p:nvSpPr>
          <p:cNvPr id="21" name="Text 19"/>
          <p:cNvSpPr/>
          <p:nvPr/>
        </p:nvSpPr>
        <p:spPr>
          <a:xfrm>
            <a:off x="9772650" y="6529388"/>
            <a:ext cx="10287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4800" dirty="0"/>
          </a:p>
        </p:txBody>
      </p:sp>
      <p:sp>
        <p:nvSpPr>
          <p:cNvPr id="22" name="Shape 20"/>
          <p:cNvSpPr/>
          <p:nvPr/>
        </p:nvSpPr>
        <p:spPr>
          <a:xfrm>
            <a:off x="10953750" y="6529388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6EA11E"/>
          </a:solidFill>
          <a:ln/>
        </p:spPr>
      </p:sp>
      <p:sp>
        <p:nvSpPr>
          <p:cNvPr id="23" name="Text 21"/>
          <p:cNvSpPr/>
          <p:nvPr/>
        </p:nvSpPr>
        <p:spPr>
          <a:xfrm>
            <a:off x="10915650" y="6529388"/>
            <a:ext cx="10287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8</a:t>
            </a:r>
            <a:endParaRPr lang="en-US" sz="4800" dirty="0"/>
          </a:p>
        </p:txBody>
      </p:sp>
      <p:sp>
        <p:nvSpPr>
          <p:cNvPr id="24" name="Shape 22"/>
          <p:cNvSpPr/>
          <p:nvPr/>
        </p:nvSpPr>
        <p:spPr>
          <a:xfrm>
            <a:off x="12096750" y="6529388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970005"/>
          </a:solidFill>
          <a:ln/>
        </p:spPr>
      </p:sp>
      <p:sp>
        <p:nvSpPr>
          <p:cNvPr id="25" name="Text 23"/>
          <p:cNvSpPr/>
          <p:nvPr/>
        </p:nvSpPr>
        <p:spPr>
          <a:xfrm>
            <a:off x="12058650" y="6529388"/>
            <a:ext cx="10287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D2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aprenderemos hoy?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371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638425"/>
            <a:ext cx="723900" cy="723900"/>
          </a:xfrm>
          <a:prstGeom prst="ellipse">
            <a:avLst/>
          </a:prstGeom>
          <a:solidFill>
            <a:srgbClr val="970005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38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24100" y="2757488"/>
            <a:ext cx="830865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Restar números de 3 dígitos </a:t>
            </a:r>
            <a:pPr algn="l" indent="0" marL="0">
              <a:buNone/>
            </a:pPr>
            <a:r>
              <a:rPr lang="en-US" sz="2850" b="1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sin desagrupar</a:t>
            </a:r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3895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3500" y="4162425"/>
            <a:ext cx="723900" cy="723900"/>
          </a:xfrm>
          <a:prstGeom prst="ellipse">
            <a:avLst/>
          </a:prstGeom>
          <a:solidFill>
            <a:srgbClr val="7F5D0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162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24100" y="4281488"/>
            <a:ext cx="988028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Restar </a:t>
            </a:r>
            <a:pPr algn="l" indent="0" marL="0">
              <a:buNone/>
            </a:pPr>
            <a:r>
              <a:rPr lang="en-US" sz="285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prestando </a:t>
            </a:r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cuando la cifra de arriba es menor.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52500" y="5419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33500" y="5686425"/>
            <a:ext cx="723900" cy="723900"/>
          </a:xfrm>
          <a:prstGeom prst="ellipse">
            <a:avLst/>
          </a:prstGeom>
          <a:solidFill>
            <a:srgbClr val="6EA11E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86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324100" y="5805488"/>
            <a:ext cx="100439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Resolver problemas de quitar y comparar cantidades.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52500" y="7172325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Necesitas: cuaderno de matemática, lápiz y ojos de detective.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553D76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71650"/>
            <a:ext cx="180213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FF585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La sustracción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952500" y="3028950"/>
            <a:ext cx="15106650" cy="1390650"/>
          </a:xfrm>
          <a:prstGeom prst="roundRect">
            <a:avLst>
              <a:gd name="adj" fmla="val 13699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1544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3152775"/>
            <a:ext cx="1471612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 sustracción o resta es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quitar o comparar cantidades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saber cuánto queda o cuál es la diferencia.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52500" y="4800600"/>
            <a:ext cx="1550045" cy="952500"/>
          </a:xfrm>
          <a:prstGeom prst="roundRect">
            <a:avLst>
              <a:gd name="adj" fmla="val 20000"/>
            </a:avLst>
          </a:prstGeom>
          <a:solidFill>
            <a:srgbClr val="7F5D00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4953000"/>
            <a:ext cx="94044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358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874998" y="5867400"/>
            <a:ext cx="17050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minuendo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2731145" y="4943475"/>
            <a:ext cx="410319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−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3293864" y="4800600"/>
            <a:ext cx="1490811" cy="952500"/>
          </a:xfrm>
          <a:prstGeom prst="roundRect">
            <a:avLst>
              <a:gd name="adj" fmla="val 20000"/>
            </a:avLst>
          </a:prstGeom>
          <a:solidFill>
            <a:srgbClr val="7F5D00"/>
          </a:solidFill>
          <a:ln/>
        </p:spPr>
      </p:sp>
      <p:sp>
        <p:nvSpPr>
          <p:cNvPr id="12" name="Text 10"/>
          <p:cNvSpPr/>
          <p:nvPr/>
        </p:nvSpPr>
        <p:spPr>
          <a:xfrm>
            <a:off x="3598664" y="4953000"/>
            <a:ext cx="881211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124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219323" y="5867400"/>
            <a:ext cx="163989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sustraendo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013275" y="4943475"/>
            <a:ext cx="35183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=</a:t>
            </a:r>
            <a:endParaRPr lang="en-US" sz="4800" dirty="0"/>
          </a:p>
        </p:txBody>
      </p:sp>
      <p:sp>
        <p:nvSpPr>
          <p:cNvPr id="15" name="Shape 13"/>
          <p:cNvSpPr/>
          <p:nvPr/>
        </p:nvSpPr>
        <p:spPr>
          <a:xfrm>
            <a:off x="5517505" y="4800600"/>
            <a:ext cx="1591568" cy="952500"/>
          </a:xfrm>
          <a:prstGeom prst="roundRect">
            <a:avLst>
              <a:gd name="adj" fmla="val 20000"/>
            </a:avLst>
          </a:prstGeom>
          <a:solidFill>
            <a:srgbClr val="6EA11E"/>
          </a:solidFill>
          <a:ln/>
        </p:spPr>
      </p:sp>
      <p:sp>
        <p:nvSpPr>
          <p:cNvPr id="16" name="Text 14"/>
          <p:cNvSpPr/>
          <p:nvPr/>
        </p:nvSpPr>
        <p:spPr>
          <a:xfrm>
            <a:off x="5822305" y="4953000"/>
            <a:ext cx="981968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234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5437927" y="5867400"/>
            <a:ext cx="17507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diferencia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553D76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49AAE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Resta sin desagrupación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952500" y="3824288"/>
            <a:ext cx="9391650" cy="1962150"/>
          </a:xfrm>
          <a:prstGeom prst="roundRect">
            <a:avLst>
              <a:gd name="adj" fmla="val 9709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1544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3948112"/>
            <a:ext cx="8829675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Ordeno los números en columnas y resto de derecha a izquierda: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A3DC4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unidades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,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decenas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centenas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 El número mayor va arriba.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11010900" y="2857500"/>
            <a:ext cx="4419600" cy="3895725"/>
          </a:xfrm>
          <a:prstGeom prst="roundRect">
            <a:avLst>
              <a:gd name="adj" fmla="val 6846"/>
            </a:avLst>
          </a:prstGeom>
          <a:solidFill>
            <a:srgbClr val="3D2600"/>
          </a:solidFill>
          <a:ln/>
        </p:spPr>
      </p:sp>
      <p:sp>
        <p:nvSpPr>
          <p:cNvPr id="8" name="Shape 6"/>
          <p:cNvSpPr/>
          <p:nvPr/>
        </p:nvSpPr>
        <p:spPr>
          <a:xfrm>
            <a:off x="12477750" y="3200400"/>
            <a:ext cx="571500" cy="571500"/>
          </a:xfrm>
          <a:prstGeom prst="ellipse">
            <a:avLst/>
          </a:prstGeom>
          <a:solidFill>
            <a:srgbClr val="970005"/>
          </a:solidFill>
          <a:ln/>
        </p:spPr>
      </p:sp>
      <p:sp>
        <p:nvSpPr>
          <p:cNvPr id="9" name="Text 7"/>
          <p:cNvSpPr/>
          <p:nvPr/>
        </p:nvSpPr>
        <p:spPr>
          <a:xfrm>
            <a:off x="12439650" y="320040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3392150" y="3200400"/>
            <a:ext cx="571500" cy="571500"/>
          </a:xfrm>
          <a:prstGeom prst="ellipse">
            <a:avLst/>
          </a:prstGeom>
          <a:solidFill>
            <a:srgbClr val="14689D"/>
          </a:solidFill>
          <a:ln/>
        </p:spPr>
      </p:sp>
      <p:sp>
        <p:nvSpPr>
          <p:cNvPr id="11" name="Text 9"/>
          <p:cNvSpPr/>
          <p:nvPr/>
        </p:nvSpPr>
        <p:spPr>
          <a:xfrm>
            <a:off x="13354050" y="320040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4306550" y="3200400"/>
            <a:ext cx="571500" cy="571500"/>
          </a:xfrm>
          <a:prstGeom prst="ellipse">
            <a:avLst/>
          </a:prstGeom>
          <a:solidFill>
            <a:srgbClr val="6EA11E"/>
          </a:solidFill>
          <a:ln/>
        </p:spPr>
      </p:sp>
      <p:sp>
        <p:nvSpPr>
          <p:cNvPr id="13" name="Text 11"/>
          <p:cNvSpPr/>
          <p:nvPr/>
        </p:nvSpPr>
        <p:spPr>
          <a:xfrm>
            <a:off x="14268450" y="320040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U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2596068" y="3848100"/>
            <a:ext cx="410914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3525054" y="3848100"/>
            <a:ext cx="381744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5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14429780" y="3848100"/>
            <a:ext cx="401241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7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11681966" y="4657725"/>
            <a:ext cx="410319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9276B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−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12587585" y="4657725"/>
            <a:ext cx="42803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13503473" y="4657725"/>
            <a:ext cx="424904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14424868" y="4657725"/>
            <a:ext cx="410914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</a:t>
            </a:r>
            <a:endParaRPr lang="en-US" sz="4800" dirty="0"/>
          </a:p>
        </p:txBody>
      </p:sp>
      <p:sp>
        <p:nvSpPr>
          <p:cNvPr id="21" name="Shape 19"/>
          <p:cNvSpPr/>
          <p:nvPr/>
        </p:nvSpPr>
        <p:spPr>
          <a:xfrm>
            <a:off x="11430000" y="5505450"/>
            <a:ext cx="3581400" cy="57150"/>
          </a:xfrm>
          <a:prstGeom prst="rect">
            <a:avLst/>
          </a:prstGeom>
          <a:solidFill>
            <a:srgbClr val="7B7265"/>
          </a:solidFill>
          <a:ln/>
        </p:spPr>
      </p:sp>
      <p:sp>
        <p:nvSpPr>
          <p:cNvPr id="22" name="Text 20"/>
          <p:cNvSpPr/>
          <p:nvPr/>
        </p:nvSpPr>
        <p:spPr>
          <a:xfrm>
            <a:off x="12587585" y="5676900"/>
            <a:ext cx="42803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A3DC4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13501985" y="5676900"/>
            <a:ext cx="42803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A3DC4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14417873" y="5676900"/>
            <a:ext cx="424904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A3DC4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4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553D76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F585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Resta con desagrupación (prestando)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952500" y="4000500"/>
            <a:ext cx="9391650" cy="1962150"/>
          </a:xfrm>
          <a:prstGeom prst="roundRect">
            <a:avLst>
              <a:gd name="adj" fmla="val 9709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1544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4124325"/>
            <a:ext cx="8829675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Cuando la cifra de arriba es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menor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que la de abajo,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pido prestado 1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la columna vecina de la izquierda.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11010900" y="2857500"/>
            <a:ext cx="4419600" cy="4248150"/>
          </a:xfrm>
          <a:prstGeom prst="roundRect">
            <a:avLst>
              <a:gd name="adj" fmla="val 6278"/>
            </a:avLst>
          </a:prstGeom>
          <a:solidFill>
            <a:srgbClr val="3D2600"/>
          </a:solidFill>
          <a:ln/>
        </p:spPr>
      </p:sp>
      <p:sp>
        <p:nvSpPr>
          <p:cNvPr id="8" name="Text 6"/>
          <p:cNvSpPr/>
          <p:nvPr/>
        </p:nvSpPr>
        <p:spPr>
          <a:xfrm>
            <a:off x="12670780" y="3143250"/>
            <a:ext cx="261491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585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3522375" y="3143250"/>
            <a:ext cx="3871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585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12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477750" y="3609975"/>
            <a:ext cx="571500" cy="571500"/>
          </a:xfrm>
          <a:prstGeom prst="ellipse">
            <a:avLst/>
          </a:prstGeom>
          <a:solidFill>
            <a:srgbClr val="970005"/>
          </a:solidFill>
          <a:ln/>
        </p:spPr>
      </p:sp>
      <p:sp>
        <p:nvSpPr>
          <p:cNvPr id="11" name="Text 9"/>
          <p:cNvSpPr/>
          <p:nvPr/>
        </p:nvSpPr>
        <p:spPr>
          <a:xfrm>
            <a:off x="12439650" y="3609975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3392150" y="3609975"/>
            <a:ext cx="571500" cy="571500"/>
          </a:xfrm>
          <a:prstGeom prst="ellipse">
            <a:avLst/>
          </a:prstGeom>
          <a:solidFill>
            <a:srgbClr val="14689D"/>
          </a:solidFill>
          <a:ln/>
        </p:spPr>
      </p:sp>
      <p:sp>
        <p:nvSpPr>
          <p:cNvPr id="13" name="Text 11"/>
          <p:cNvSpPr/>
          <p:nvPr/>
        </p:nvSpPr>
        <p:spPr>
          <a:xfrm>
            <a:off x="13354050" y="3609975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4306550" y="3609975"/>
            <a:ext cx="571500" cy="571500"/>
          </a:xfrm>
          <a:prstGeom prst="ellipse">
            <a:avLst/>
          </a:prstGeom>
          <a:solidFill>
            <a:srgbClr val="6EA11E"/>
          </a:solidFill>
          <a:ln/>
        </p:spPr>
      </p:sp>
      <p:sp>
        <p:nvSpPr>
          <p:cNvPr id="15" name="Text 13"/>
          <p:cNvSpPr/>
          <p:nvPr/>
        </p:nvSpPr>
        <p:spPr>
          <a:xfrm>
            <a:off x="14268450" y="3609975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U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2596068" y="4257675"/>
            <a:ext cx="410914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13501985" y="4257675"/>
            <a:ext cx="42803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trike="sngStrike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14439454" y="4257675"/>
            <a:ext cx="381744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5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11681966" y="5067300"/>
            <a:ext cx="410319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9276B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−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12646670" y="5067300"/>
            <a:ext cx="309711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13511064" y="5067300"/>
            <a:ext cx="409724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8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14417873" y="5067300"/>
            <a:ext cx="424904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4800" dirty="0"/>
          </a:p>
        </p:txBody>
      </p:sp>
      <p:sp>
        <p:nvSpPr>
          <p:cNvPr id="23" name="Shape 21"/>
          <p:cNvSpPr/>
          <p:nvPr/>
        </p:nvSpPr>
        <p:spPr>
          <a:xfrm>
            <a:off x="11430000" y="5915025"/>
            <a:ext cx="3581400" cy="57150"/>
          </a:xfrm>
          <a:prstGeom prst="rect">
            <a:avLst/>
          </a:prstGeom>
          <a:solidFill>
            <a:srgbClr val="7B7265"/>
          </a:solidFill>
          <a:ln/>
        </p:spPr>
      </p:sp>
      <p:sp>
        <p:nvSpPr>
          <p:cNvPr id="24" name="Text 22"/>
          <p:cNvSpPr/>
          <p:nvPr/>
        </p:nvSpPr>
        <p:spPr>
          <a:xfrm>
            <a:off x="12587585" y="6086475"/>
            <a:ext cx="42803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A3DC4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13510468" y="6086475"/>
            <a:ext cx="410914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A3DC4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</a:t>
            </a:r>
            <a:endParaRPr lang="en-US" sz="4800" dirty="0"/>
          </a:p>
        </p:txBody>
      </p:sp>
      <p:sp>
        <p:nvSpPr>
          <p:cNvPr id="26" name="Text 24"/>
          <p:cNvSpPr/>
          <p:nvPr/>
        </p:nvSpPr>
        <p:spPr>
          <a:xfrm>
            <a:off x="14416385" y="6086475"/>
            <a:ext cx="42803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A3DC4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952500" y="7448550"/>
            <a:ext cx="180213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Mira: 2 es menor que 8 → el 4 le presta 1 → 12 − 8 = 4 y el 4 queda en 3.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553D76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A3DC4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Pasos para restar prestando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952500" y="2857500"/>
            <a:ext cx="647700" cy="647700"/>
          </a:xfrm>
          <a:prstGeom prst="ellipse">
            <a:avLst/>
          </a:prstGeom>
          <a:solidFill>
            <a:srgbClr val="97000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8575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47850" y="2947988"/>
            <a:ext cx="899608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Ordeno los números en columnas: el mayor arriba.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52500" y="3714750"/>
            <a:ext cx="647700" cy="647700"/>
          </a:xfrm>
          <a:prstGeom prst="ellipse">
            <a:avLst/>
          </a:prstGeom>
          <a:solidFill>
            <a:srgbClr val="7F5D0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71475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847850" y="3805237"/>
            <a:ext cx="13392701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Resto las unidades. Si la de arriba es menor, pido prestado 1 a las decenas.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52500" y="4714875"/>
            <a:ext cx="647700" cy="647700"/>
          </a:xfrm>
          <a:prstGeom prst="ellipse">
            <a:avLst/>
          </a:prstGeom>
          <a:solidFill>
            <a:srgbClr val="14689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714875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847850" y="4572000"/>
            <a:ext cx="13793915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Resto las decenas recordando lo que presté. Si necesito, pido prestado a las centenas.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52500" y="5715000"/>
            <a:ext cx="647700" cy="647700"/>
          </a:xfrm>
          <a:prstGeom prst="ellipse">
            <a:avLst/>
          </a:prstGeom>
          <a:solidFill>
            <a:srgbClr val="6EA11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7150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847850" y="5805488"/>
            <a:ext cx="7428711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Resto las centenas y escribo la diferencia.</a:t>
            </a:r>
            <a:endParaRPr lang="en-US" sz="2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2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488906" cy="628650"/>
          </a:xfrm>
          <a:prstGeom prst="roundRect">
            <a:avLst>
              <a:gd name="adj" fmla="val 30303"/>
            </a:avLst>
          </a:prstGeom>
          <a:solidFill>
            <a:srgbClr val="970005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1120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AHORA TÚ · RESUELVE EN TU CUADERNO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71650"/>
            <a:ext cx="180213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¡A practicar!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952500" y="2933700"/>
            <a:ext cx="3371850" cy="1562100"/>
          </a:xfrm>
          <a:prstGeom prst="roundRect">
            <a:avLst>
              <a:gd name="adj" fmla="val 14634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77277" y="3200400"/>
            <a:ext cx="31222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a)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77277" y="3629025"/>
            <a:ext cx="312229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568 − 234</a:t>
            </a:r>
            <a:endParaRPr lang="en-US" sz="3900" dirty="0"/>
          </a:p>
        </p:txBody>
      </p:sp>
      <p:sp>
        <p:nvSpPr>
          <p:cNvPr id="8" name="Shape 6"/>
          <p:cNvSpPr/>
          <p:nvPr/>
        </p:nvSpPr>
        <p:spPr>
          <a:xfrm>
            <a:off x="4591050" y="2933700"/>
            <a:ext cx="3371850" cy="1562100"/>
          </a:xfrm>
          <a:prstGeom prst="roundRect">
            <a:avLst>
              <a:gd name="adj" fmla="val 14634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15828" y="3200400"/>
            <a:ext cx="31222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CC4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b)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715828" y="3629025"/>
            <a:ext cx="312229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641 − 325</a:t>
            </a:r>
            <a:endParaRPr lang="en-US" sz="3900" dirty="0"/>
          </a:p>
        </p:txBody>
      </p:sp>
      <p:sp>
        <p:nvSpPr>
          <p:cNvPr id="11" name="Shape 9"/>
          <p:cNvSpPr/>
          <p:nvPr/>
        </p:nvSpPr>
        <p:spPr>
          <a:xfrm>
            <a:off x="8229600" y="2933700"/>
            <a:ext cx="3371850" cy="1562100"/>
          </a:xfrm>
          <a:prstGeom prst="roundRect">
            <a:avLst>
              <a:gd name="adj" fmla="val 14634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54378" y="3200400"/>
            <a:ext cx="31222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c)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354378" y="3629025"/>
            <a:ext cx="312229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730 − 418</a:t>
            </a:r>
            <a:endParaRPr lang="en-US" sz="3900" dirty="0"/>
          </a:p>
        </p:txBody>
      </p:sp>
      <p:sp>
        <p:nvSpPr>
          <p:cNvPr id="14" name="Shape 12"/>
          <p:cNvSpPr/>
          <p:nvPr/>
        </p:nvSpPr>
        <p:spPr>
          <a:xfrm>
            <a:off x="11868150" y="2933700"/>
            <a:ext cx="3371850" cy="1562100"/>
          </a:xfrm>
          <a:prstGeom prst="roundRect">
            <a:avLst>
              <a:gd name="adj" fmla="val 14634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992928" y="3200400"/>
            <a:ext cx="31222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A3DC4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d)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1992928" y="3629025"/>
            <a:ext cx="312229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523 − 187</a:t>
            </a:r>
            <a:endParaRPr lang="en-US" sz="3900" dirty="0"/>
          </a:p>
        </p:txBody>
      </p:sp>
      <p:sp>
        <p:nvSpPr>
          <p:cNvPr id="17" name="Shape 15"/>
          <p:cNvSpPr/>
          <p:nvPr/>
        </p:nvSpPr>
        <p:spPr>
          <a:xfrm>
            <a:off x="952500" y="4876800"/>
            <a:ext cx="15125700" cy="1485900"/>
          </a:xfrm>
          <a:prstGeom prst="roundRect">
            <a:avLst>
              <a:gd name="adj" fmla="val 17949"/>
            </a:avLst>
          </a:prstGeom>
          <a:solidFill>
            <a:srgbClr val="553D76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5181600"/>
            <a:ext cx="1471612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Problema: En el bus viajaban </a:t>
            </a:r>
            <a:pPr algn="l" indent="0" marL="0">
              <a:buNone/>
            </a:pPr>
            <a:r>
              <a:rPr lang="en-US" sz="2550" b="1" dirty="0">
                <a:solidFill>
                  <a:srgbClr val="FFCC4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250 personas </a:t>
            </a:r>
            <a:pPr algn="l" indent="0" marL="0">
              <a:buNone/>
            </a:pPr>
            <a:r>
              <a:rPr lang="en-US" sz="2550" b="1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se bajaron </a:t>
            </a:r>
            <a:pPr algn="l" indent="0" marL="0">
              <a:buNone/>
            </a:pPr>
            <a:r>
              <a:rPr lang="en-US" sz="2550" b="1" dirty="0">
                <a:solidFill>
                  <a:srgbClr val="FFCC4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138 </a:t>
            </a:r>
            <a:pPr algn="l" indent="0" marL="0">
              <a:buNone/>
            </a:pPr>
            <a:r>
              <a:rPr lang="en-US" sz="2550" b="1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 ¿Cuántas personas siguen en el bus?</a:t>
            </a:r>
            <a:endParaRPr lang="en-US" sz="2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53D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305050"/>
            <a:ext cx="2960340" cy="628650"/>
          </a:xfrm>
          <a:prstGeom prst="roundRect">
            <a:avLst>
              <a:gd name="adj" fmla="val 30303"/>
            </a:avLst>
          </a:prstGeom>
          <a:solidFill>
            <a:srgbClr val="7F5D00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2438400"/>
            <a:ext cx="24776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TERMINAR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390900"/>
            <a:ext cx="15697200" cy="2447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113"/>
              </a:lnSpc>
              <a:buNone/>
            </a:pPr>
            <a:r>
              <a:rPr lang="en-US" sz="825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¿Cuándo pedimos prestado al restar?</a:t>
            </a:r>
            <a:endParaRPr lang="en-US" sz="8250" dirty="0"/>
          </a:p>
        </p:txBody>
      </p:sp>
      <p:sp>
        <p:nvSpPr>
          <p:cNvPr id="5" name="Text 3"/>
          <p:cNvSpPr/>
          <p:nvPr/>
        </p:nvSpPr>
        <p:spPr>
          <a:xfrm>
            <a:off x="952500" y="6257925"/>
            <a:ext cx="180213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7B4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Levanta la mano y cuéntanos con tus palabras.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" y="7229475"/>
            <a:ext cx="7107287" cy="752475"/>
          </a:xfrm>
          <a:prstGeom prst="roundRect">
            <a:avLst>
              <a:gd name="adj" fmla="val 50000"/>
            </a:avLst>
          </a:prstGeom>
          <a:solidFill>
            <a:srgbClr val="181A1B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7400925"/>
            <a:ext cx="655850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585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¡Hoy restaste como un detective experto!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2026-07-21T11:59:59Z</dcterms:created>
  <dcterms:modified xsi:type="dcterms:W3CDTF">2026-07-21T11:59:59Z</dcterms:modified>
</cp:coreProperties>
</file>