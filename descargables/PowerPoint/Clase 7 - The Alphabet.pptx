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en inglés: Hello! (¡Hola!). Pregunta detonadora: cantemos el ABC en inglés. ¿Se parece al español? ¿Qué letras suenan diferente? Escucha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Guía 22: Escucha. Hoy escuchamos, repetimos y respondemos con el cuerpo (Total Physical Response).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alfabeto en inglés A-M con su pronunciación aproximada. Canta cada letra y los niños repiten.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alfabeto N-Z. Sigue cantando.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Classroom commands con traducción. Modela cada orden con el cuerpo (TPR): di stand up y ponte de pie. Los niños te imitan.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escriben su nombre y lo deletrean en inglés, y unen cada comando con su traducción. Luego pasan al frente a deletrear su nombre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da órdenes en inglés al azar (stand up, sit down, listen) y los niños responden con el cuerpo. Felicita: Good job!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7F5D00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6" name="Shape 4"/>
          <p:cNvSpPr/>
          <p:nvPr/>
        </p:nvSpPr>
        <p:spPr>
          <a:xfrm>
            <a:off x="6265218" y="2914650"/>
            <a:ext cx="5757416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222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1145" y="3067050"/>
            <a:ext cx="314979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ENGLISH · INGLÉS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62071" y="3067050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22386" y="3067050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980020" y="3952875"/>
            <a:ext cx="8327812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278"/>
              </a:lnSpc>
              <a:buNone/>
            </a:pPr>
            <a:r>
              <a:rPr lang="en-US" sz="97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Alphabet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3390059" y="5534025"/>
            <a:ext cx="1150773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abecedario y las órdenes de la clase (con traducción)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457950" y="641985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970005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850" y="6419850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7562850" y="641985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7F5D00"/>
          </a:solidFill>
          <a:ln/>
        </p:spPr>
      </p:sp>
      <p:sp>
        <p:nvSpPr>
          <p:cNvPr id="15" name="Text 13"/>
          <p:cNvSpPr/>
          <p:nvPr/>
        </p:nvSpPr>
        <p:spPr>
          <a:xfrm>
            <a:off x="7524750" y="6419850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8667750" y="641985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6EA11E"/>
          </a:solidFill>
          <a:ln/>
        </p:spPr>
      </p:sp>
      <p:sp>
        <p:nvSpPr>
          <p:cNvPr id="17" name="Text 15"/>
          <p:cNvSpPr/>
          <p:nvPr/>
        </p:nvSpPr>
        <p:spPr>
          <a:xfrm>
            <a:off x="8629650" y="6419850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9772650" y="641985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14689D"/>
          </a:solidFill>
          <a:ln/>
        </p:spPr>
      </p:sp>
      <p:sp>
        <p:nvSpPr>
          <p:cNvPr id="19" name="Text 17"/>
          <p:cNvSpPr/>
          <p:nvPr/>
        </p:nvSpPr>
        <p:spPr>
          <a:xfrm>
            <a:off x="9734550" y="6419850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10877550" y="641985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553D76"/>
          </a:solidFill>
          <a:ln/>
        </p:spPr>
      </p:sp>
      <p:sp>
        <p:nvSpPr>
          <p:cNvPr id="21" name="Text 19"/>
          <p:cNvSpPr/>
          <p:nvPr/>
        </p:nvSpPr>
        <p:spPr>
          <a:xfrm>
            <a:off x="10839450" y="6419850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will we learn today? </a:t>
            </a:r>
            <a:pPr algn="l" indent="0" marL="0">
              <a:buNone/>
            </a:pPr>
            <a:r>
              <a:rPr lang="en-US" sz="285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/ ¿Qué aprenderemos?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966303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Escuchar y decir el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alphabet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(abecedario) en inglés.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1217370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y obedecer </a:t>
            </a:r>
            <a:pPr algn="l" indent="0" marL="0"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classroom commands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(órdenes de la clase).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99765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Deletrear nuestro nombre en inglés (spell my name).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need / Necesitas: cuaderno de inglés, lápiz y tu mejor voz.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666750"/>
            <a:ext cx="5782568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00100"/>
            <a:ext cx="53845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57250" y="1581150"/>
            <a:ext cx="18230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Alphabet (A – M)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857250" y="2552700"/>
            <a:ext cx="182308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Copia la letra y cómo suena en inglés.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857250" y="3171825"/>
            <a:ext cx="2236887" cy="1047750"/>
          </a:xfrm>
          <a:prstGeom prst="roundRect">
            <a:avLst>
              <a:gd name="adj" fmla="val 16364"/>
            </a:avLst>
          </a:prstGeom>
          <a:solidFill>
            <a:srgbClr val="400507"/>
          </a:solidFill>
          <a:ln/>
        </p:spPr>
      </p:sp>
      <p:sp>
        <p:nvSpPr>
          <p:cNvPr id="7" name="Text 5"/>
          <p:cNvSpPr/>
          <p:nvPr/>
        </p:nvSpPr>
        <p:spPr>
          <a:xfrm>
            <a:off x="892091" y="3305175"/>
            <a:ext cx="216720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892091" y="3829050"/>
            <a:ext cx="21672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537" y="317182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392800"/>
          </a:solidFill>
          <a:ln/>
        </p:spPr>
      </p:sp>
      <p:sp>
        <p:nvSpPr>
          <p:cNvPr id="10" name="Text 8"/>
          <p:cNvSpPr/>
          <p:nvPr/>
        </p:nvSpPr>
        <p:spPr>
          <a:xfrm>
            <a:off x="3281370" y="330517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281370" y="382905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35972" y="317182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25300C"/>
          </a:solidFill>
          <a:ln/>
        </p:spPr>
      </p:sp>
      <p:sp>
        <p:nvSpPr>
          <p:cNvPr id="13" name="Text 11"/>
          <p:cNvSpPr/>
          <p:nvPr/>
        </p:nvSpPr>
        <p:spPr>
          <a:xfrm>
            <a:off x="5670805" y="330517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5670805" y="382905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5408" y="317182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212425"/>
          </a:solidFill>
          <a:ln/>
        </p:spPr>
      </p:sp>
      <p:sp>
        <p:nvSpPr>
          <p:cNvPr id="16" name="Text 14"/>
          <p:cNvSpPr/>
          <p:nvPr/>
        </p:nvSpPr>
        <p:spPr>
          <a:xfrm>
            <a:off x="8060241" y="330517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8060241" y="382905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414843" y="317182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1F2223"/>
          </a:solidFill>
          <a:ln/>
        </p:spPr>
      </p:sp>
      <p:sp>
        <p:nvSpPr>
          <p:cNvPr id="19" name="Text 17"/>
          <p:cNvSpPr/>
          <p:nvPr/>
        </p:nvSpPr>
        <p:spPr>
          <a:xfrm>
            <a:off x="10449677" y="330517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0449677" y="382905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804279" y="317182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400507"/>
          </a:solidFill>
          <a:ln/>
        </p:spPr>
      </p:sp>
      <p:sp>
        <p:nvSpPr>
          <p:cNvPr id="22" name="Text 20"/>
          <p:cNvSpPr/>
          <p:nvPr/>
        </p:nvSpPr>
        <p:spPr>
          <a:xfrm>
            <a:off x="12839112" y="330517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2839112" y="382905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ef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5193714" y="317182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392800"/>
          </a:solidFill>
          <a:ln/>
        </p:spPr>
      </p:sp>
      <p:sp>
        <p:nvSpPr>
          <p:cNvPr id="25" name="Text 23"/>
          <p:cNvSpPr/>
          <p:nvPr/>
        </p:nvSpPr>
        <p:spPr>
          <a:xfrm>
            <a:off x="15228548" y="330517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5228548" y="382905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57250" y="4371975"/>
            <a:ext cx="2236887" cy="1047750"/>
          </a:xfrm>
          <a:prstGeom prst="roundRect">
            <a:avLst>
              <a:gd name="adj" fmla="val 16364"/>
            </a:avLst>
          </a:prstGeom>
          <a:solidFill>
            <a:srgbClr val="25300C"/>
          </a:solidFill>
          <a:ln/>
        </p:spPr>
      </p:sp>
      <p:sp>
        <p:nvSpPr>
          <p:cNvPr id="28" name="Text 26"/>
          <p:cNvSpPr/>
          <p:nvPr/>
        </p:nvSpPr>
        <p:spPr>
          <a:xfrm>
            <a:off x="892091" y="4505325"/>
            <a:ext cx="216720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892091" y="5029200"/>
            <a:ext cx="21672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eich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46537" y="437197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212425"/>
          </a:solidFill>
          <a:ln/>
        </p:spPr>
      </p:sp>
      <p:sp>
        <p:nvSpPr>
          <p:cNvPr id="31" name="Text 29"/>
          <p:cNvSpPr/>
          <p:nvPr/>
        </p:nvSpPr>
        <p:spPr>
          <a:xfrm>
            <a:off x="3281370" y="450532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3281370" y="502920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635972" y="437197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1F2223"/>
          </a:solidFill>
          <a:ln/>
        </p:spPr>
      </p:sp>
      <p:sp>
        <p:nvSpPr>
          <p:cNvPr id="34" name="Text 32"/>
          <p:cNvSpPr/>
          <p:nvPr/>
        </p:nvSpPr>
        <p:spPr>
          <a:xfrm>
            <a:off x="5670805" y="450532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5670805" y="502920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yei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25408" y="437197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400507"/>
          </a:solidFill>
          <a:ln/>
        </p:spPr>
      </p:sp>
      <p:sp>
        <p:nvSpPr>
          <p:cNvPr id="37" name="Text 35"/>
          <p:cNvSpPr/>
          <p:nvPr/>
        </p:nvSpPr>
        <p:spPr>
          <a:xfrm>
            <a:off x="8060241" y="450532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</a:t>
            </a:r>
            <a:endParaRPr lang="en-US" sz="3300" dirty="0"/>
          </a:p>
        </p:txBody>
      </p:sp>
      <p:sp>
        <p:nvSpPr>
          <p:cNvPr id="38" name="Text 36"/>
          <p:cNvSpPr/>
          <p:nvPr/>
        </p:nvSpPr>
        <p:spPr>
          <a:xfrm>
            <a:off x="8060241" y="502920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kei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414843" y="437197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392800"/>
          </a:solidFill>
          <a:ln/>
        </p:spPr>
      </p:sp>
      <p:sp>
        <p:nvSpPr>
          <p:cNvPr id="40" name="Text 38"/>
          <p:cNvSpPr/>
          <p:nvPr/>
        </p:nvSpPr>
        <p:spPr>
          <a:xfrm>
            <a:off x="10449677" y="450532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</a:t>
            </a:r>
            <a:endParaRPr lang="en-US" sz="3300" dirty="0"/>
          </a:p>
        </p:txBody>
      </p:sp>
      <p:sp>
        <p:nvSpPr>
          <p:cNvPr id="41" name="Text 39"/>
          <p:cNvSpPr/>
          <p:nvPr/>
        </p:nvSpPr>
        <p:spPr>
          <a:xfrm>
            <a:off x="10449677" y="502920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2804279" y="4371975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25300C"/>
          </a:solidFill>
          <a:ln/>
        </p:spPr>
      </p:sp>
      <p:sp>
        <p:nvSpPr>
          <p:cNvPr id="43" name="Text 41"/>
          <p:cNvSpPr/>
          <p:nvPr/>
        </p:nvSpPr>
        <p:spPr>
          <a:xfrm>
            <a:off x="12839112" y="4505325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</a:t>
            </a:r>
            <a:endParaRPr lang="en-US" sz="3300" dirty="0"/>
          </a:p>
        </p:txBody>
      </p:sp>
      <p:sp>
        <p:nvSpPr>
          <p:cNvPr id="44" name="Text 42"/>
          <p:cNvSpPr/>
          <p:nvPr/>
        </p:nvSpPr>
        <p:spPr>
          <a:xfrm>
            <a:off x="12839112" y="502920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666750"/>
            <a:ext cx="5782568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00100"/>
            <a:ext cx="53845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57250" y="1581150"/>
            <a:ext cx="18230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Alphabet (N – Z)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857250" y="2552700"/>
            <a:ext cx="2236887" cy="1047750"/>
          </a:xfrm>
          <a:prstGeom prst="roundRect">
            <a:avLst>
              <a:gd name="adj" fmla="val 16364"/>
            </a:avLst>
          </a:prstGeom>
          <a:solidFill>
            <a:srgbClr val="212425"/>
          </a:solidFill>
          <a:ln/>
        </p:spPr>
      </p:sp>
      <p:sp>
        <p:nvSpPr>
          <p:cNvPr id="6" name="Text 4"/>
          <p:cNvSpPr/>
          <p:nvPr/>
        </p:nvSpPr>
        <p:spPr>
          <a:xfrm>
            <a:off x="892091" y="2686050"/>
            <a:ext cx="216720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92091" y="3209925"/>
            <a:ext cx="21672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537" y="255270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1F2223"/>
          </a:solidFill>
          <a:ln/>
        </p:spPr>
      </p:sp>
      <p:sp>
        <p:nvSpPr>
          <p:cNvPr id="9" name="Text 7"/>
          <p:cNvSpPr/>
          <p:nvPr/>
        </p:nvSpPr>
        <p:spPr>
          <a:xfrm>
            <a:off x="3281370" y="268605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281370" y="320992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35972" y="255270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400507"/>
          </a:solidFill>
          <a:ln/>
        </p:spPr>
      </p:sp>
      <p:sp>
        <p:nvSpPr>
          <p:cNvPr id="12" name="Text 10"/>
          <p:cNvSpPr/>
          <p:nvPr/>
        </p:nvSpPr>
        <p:spPr>
          <a:xfrm>
            <a:off x="5670805" y="268605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670805" y="320992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25408" y="255270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392800"/>
          </a:solidFill>
          <a:ln/>
        </p:spPr>
      </p:sp>
      <p:sp>
        <p:nvSpPr>
          <p:cNvPr id="15" name="Text 13"/>
          <p:cNvSpPr/>
          <p:nvPr/>
        </p:nvSpPr>
        <p:spPr>
          <a:xfrm>
            <a:off x="8060241" y="268605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Q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060241" y="320992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kiu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414843" y="255270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25300C"/>
          </a:solidFill>
          <a:ln/>
        </p:spPr>
      </p:sp>
      <p:sp>
        <p:nvSpPr>
          <p:cNvPr id="18" name="Text 16"/>
          <p:cNvSpPr/>
          <p:nvPr/>
        </p:nvSpPr>
        <p:spPr>
          <a:xfrm>
            <a:off x="10449677" y="268605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0449677" y="320992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804279" y="255270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212425"/>
          </a:solidFill>
          <a:ln/>
        </p:spPr>
      </p:sp>
      <p:sp>
        <p:nvSpPr>
          <p:cNvPr id="21" name="Text 19"/>
          <p:cNvSpPr/>
          <p:nvPr/>
        </p:nvSpPr>
        <p:spPr>
          <a:xfrm>
            <a:off x="12839112" y="268605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2839112" y="320992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5193714" y="255270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1F2223"/>
          </a:solidFill>
          <a:ln/>
        </p:spPr>
      </p:sp>
      <p:sp>
        <p:nvSpPr>
          <p:cNvPr id="24" name="Text 22"/>
          <p:cNvSpPr/>
          <p:nvPr/>
        </p:nvSpPr>
        <p:spPr>
          <a:xfrm>
            <a:off x="15228548" y="268605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5228548" y="320992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7250" y="3752850"/>
            <a:ext cx="2236887" cy="1047750"/>
          </a:xfrm>
          <a:prstGeom prst="roundRect">
            <a:avLst>
              <a:gd name="adj" fmla="val 16364"/>
            </a:avLst>
          </a:prstGeom>
          <a:solidFill>
            <a:srgbClr val="400507"/>
          </a:solidFill>
          <a:ln/>
        </p:spPr>
      </p:sp>
      <p:sp>
        <p:nvSpPr>
          <p:cNvPr id="27" name="Text 25"/>
          <p:cNvSpPr/>
          <p:nvPr/>
        </p:nvSpPr>
        <p:spPr>
          <a:xfrm>
            <a:off x="892091" y="3886200"/>
            <a:ext cx="216720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892091" y="4410075"/>
            <a:ext cx="21672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iu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246537" y="375285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392800"/>
          </a:solidFill>
          <a:ln/>
        </p:spPr>
      </p:sp>
      <p:sp>
        <p:nvSpPr>
          <p:cNvPr id="30" name="Text 28"/>
          <p:cNvSpPr/>
          <p:nvPr/>
        </p:nvSpPr>
        <p:spPr>
          <a:xfrm>
            <a:off x="3281370" y="388620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3281370" y="441007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35972" y="375285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25300C"/>
          </a:solidFill>
          <a:ln/>
        </p:spPr>
      </p:sp>
      <p:sp>
        <p:nvSpPr>
          <p:cNvPr id="33" name="Text 31"/>
          <p:cNvSpPr/>
          <p:nvPr/>
        </p:nvSpPr>
        <p:spPr>
          <a:xfrm>
            <a:off x="5670805" y="388620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</a:t>
            </a:r>
            <a:endParaRPr lang="en-US" sz="3300" dirty="0"/>
          </a:p>
        </p:txBody>
      </p:sp>
      <p:sp>
        <p:nvSpPr>
          <p:cNvPr id="34" name="Text 32"/>
          <p:cNvSpPr/>
          <p:nvPr/>
        </p:nvSpPr>
        <p:spPr>
          <a:xfrm>
            <a:off x="5670805" y="4410075"/>
            <a:ext cx="216736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dabliu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025408" y="375285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212425"/>
          </a:solidFill>
          <a:ln/>
        </p:spPr>
      </p:sp>
      <p:sp>
        <p:nvSpPr>
          <p:cNvPr id="36" name="Text 34"/>
          <p:cNvSpPr/>
          <p:nvPr/>
        </p:nvSpPr>
        <p:spPr>
          <a:xfrm>
            <a:off x="8060241" y="388620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X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8060241" y="441007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eks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414843" y="375285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1F2223"/>
          </a:solidFill>
          <a:ln/>
        </p:spPr>
      </p:sp>
      <p:sp>
        <p:nvSpPr>
          <p:cNvPr id="39" name="Text 37"/>
          <p:cNvSpPr/>
          <p:nvPr/>
        </p:nvSpPr>
        <p:spPr>
          <a:xfrm>
            <a:off x="10449677" y="388620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Y</a:t>
            </a:r>
            <a:endParaRPr lang="en-US" sz="3300" dirty="0"/>
          </a:p>
        </p:txBody>
      </p:sp>
      <p:sp>
        <p:nvSpPr>
          <p:cNvPr id="40" name="Text 38"/>
          <p:cNvSpPr/>
          <p:nvPr/>
        </p:nvSpPr>
        <p:spPr>
          <a:xfrm>
            <a:off x="10449677" y="441007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uai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2804279" y="375285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400507"/>
          </a:solidFill>
          <a:ln/>
        </p:spPr>
      </p:sp>
      <p:sp>
        <p:nvSpPr>
          <p:cNvPr id="42" name="Text 40"/>
          <p:cNvSpPr/>
          <p:nvPr/>
        </p:nvSpPr>
        <p:spPr>
          <a:xfrm>
            <a:off x="12839112" y="3886200"/>
            <a:ext cx="216736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Z</a:t>
            </a:r>
            <a:endParaRPr lang="en-US" sz="3300" dirty="0"/>
          </a:p>
        </p:txBody>
      </p:sp>
      <p:sp>
        <p:nvSpPr>
          <p:cNvPr id="43" name="Text 41"/>
          <p:cNvSpPr/>
          <p:nvPr/>
        </p:nvSpPr>
        <p:spPr>
          <a:xfrm>
            <a:off x="12839112" y="4410075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zi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5193714" y="3752850"/>
            <a:ext cx="2237036" cy="1047750"/>
          </a:xfrm>
          <a:prstGeom prst="roundRect">
            <a:avLst>
              <a:gd name="adj" fmla="val 16364"/>
            </a:avLst>
          </a:prstGeom>
          <a:solidFill>
            <a:srgbClr val="7F5D00"/>
          </a:solidFill>
          <a:ln/>
        </p:spPr>
      </p:sp>
      <p:sp>
        <p:nvSpPr>
          <p:cNvPr id="45" name="Text 43"/>
          <p:cNvSpPr/>
          <p:nvPr/>
        </p:nvSpPr>
        <p:spPr>
          <a:xfrm>
            <a:off x="16052899" y="4057650"/>
            <a:ext cx="51866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🎵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782568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3845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Classroom Commands 🙌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800350"/>
            <a:ext cx="18021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Órdenes de la clase (en inglés y su traducción).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3457575"/>
            <a:ext cx="4940201" cy="2190750"/>
          </a:xfrm>
          <a:prstGeom prst="roundRect">
            <a:avLst>
              <a:gd name="adj" fmla="val 10435"/>
            </a:avLst>
          </a:prstGeom>
          <a:solidFill>
            <a:srgbClr val="3D2600"/>
          </a:solidFill>
          <a:ln/>
        </p:spPr>
      </p:sp>
      <p:sp>
        <p:nvSpPr>
          <p:cNvPr id="7" name="Text 5"/>
          <p:cNvSpPr/>
          <p:nvPr/>
        </p:nvSpPr>
        <p:spPr>
          <a:xfrm>
            <a:off x="977905" y="3705225"/>
            <a:ext cx="488939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🧍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77905" y="4543425"/>
            <a:ext cx="488939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Stand up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77905" y="5038725"/>
            <a:ext cx="488939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Ponte de pie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102251" y="3457575"/>
            <a:ext cx="4940350" cy="2190750"/>
          </a:xfrm>
          <a:prstGeom prst="roundRect">
            <a:avLst>
              <a:gd name="adj" fmla="val 10435"/>
            </a:avLst>
          </a:prstGeom>
          <a:solidFill>
            <a:srgbClr val="3D2600"/>
          </a:solidFill>
          <a:ln/>
        </p:spPr>
      </p:sp>
      <p:sp>
        <p:nvSpPr>
          <p:cNvPr id="11" name="Text 9"/>
          <p:cNvSpPr/>
          <p:nvPr/>
        </p:nvSpPr>
        <p:spPr>
          <a:xfrm>
            <a:off x="6127648" y="3705225"/>
            <a:ext cx="48895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🪑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127648" y="4543425"/>
            <a:ext cx="48895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Sit down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127648" y="5038725"/>
            <a:ext cx="48895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Siéntate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252150" y="3457575"/>
            <a:ext cx="4940350" cy="2190750"/>
          </a:xfrm>
          <a:prstGeom prst="roundRect">
            <a:avLst>
              <a:gd name="adj" fmla="val 10435"/>
            </a:avLst>
          </a:prstGeom>
          <a:solidFill>
            <a:srgbClr val="3D26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277548" y="3705225"/>
            <a:ext cx="48895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👂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1277548" y="4543425"/>
            <a:ext cx="48895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Listen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1277548" y="5038725"/>
            <a:ext cx="48895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Escucha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" y="5857875"/>
            <a:ext cx="4940201" cy="2190750"/>
          </a:xfrm>
          <a:prstGeom prst="roundRect">
            <a:avLst>
              <a:gd name="adj" fmla="val 10435"/>
            </a:avLst>
          </a:prstGeom>
          <a:solidFill>
            <a:srgbClr val="3D2600"/>
          </a:solidFill>
          <a:ln/>
        </p:spPr>
      </p:sp>
      <p:sp>
        <p:nvSpPr>
          <p:cNvPr id="19" name="Text 17"/>
          <p:cNvSpPr/>
          <p:nvPr/>
        </p:nvSpPr>
        <p:spPr>
          <a:xfrm>
            <a:off x="977905" y="6105525"/>
            <a:ext cx="488939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🤫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77905" y="6943725"/>
            <a:ext cx="488939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Be quiet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977905" y="7439025"/>
            <a:ext cx="488939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Silencio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102251" y="5857875"/>
            <a:ext cx="4940350" cy="2190750"/>
          </a:xfrm>
          <a:prstGeom prst="roundRect">
            <a:avLst>
              <a:gd name="adj" fmla="val 10435"/>
            </a:avLst>
          </a:prstGeom>
          <a:solidFill>
            <a:srgbClr val="3D2600"/>
          </a:solidFill>
          <a:ln/>
        </p:spPr>
      </p:sp>
      <p:sp>
        <p:nvSpPr>
          <p:cNvPr id="23" name="Text 21"/>
          <p:cNvSpPr/>
          <p:nvPr/>
        </p:nvSpPr>
        <p:spPr>
          <a:xfrm>
            <a:off x="6127648" y="6105525"/>
            <a:ext cx="48895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✋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127648" y="6943725"/>
            <a:ext cx="48895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Raise your hand</a:t>
            </a:r>
            <a:endParaRPr lang="en-US" sz="2850" dirty="0"/>
          </a:p>
        </p:txBody>
      </p:sp>
      <p:sp>
        <p:nvSpPr>
          <p:cNvPr id="25" name="Text 23"/>
          <p:cNvSpPr/>
          <p:nvPr/>
        </p:nvSpPr>
        <p:spPr>
          <a:xfrm>
            <a:off x="6127648" y="7439025"/>
            <a:ext cx="48895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252150" y="5857875"/>
            <a:ext cx="4940350" cy="2190750"/>
          </a:xfrm>
          <a:prstGeom prst="roundRect">
            <a:avLst>
              <a:gd name="adj" fmla="val 10435"/>
            </a:avLst>
          </a:prstGeom>
          <a:solidFill>
            <a:srgbClr val="3D2600"/>
          </a:solidFill>
          <a:ln/>
        </p:spPr>
      </p:sp>
      <p:sp>
        <p:nvSpPr>
          <p:cNvPr id="27" name="Text 25"/>
          <p:cNvSpPr/>
          <p:nvPr/>
        </p:nvSpPr>
        <p:spPr>
          <a:xfrm>
            <a:off x="11277548" y="6105525"/>
            <a:ext cx="48895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👀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11277548" y="6943725"/>
            <a:ext cx="48895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Look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11277548" y="7439025"/>
            <a:ext cx="48895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Mira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380708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0006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NOW YOU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Let's practice! / ¡A practicar!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25700" cy="1552575"/>
          </a:xfrm>
          <a:prstGeom prst="roundRect">
            <a:avLst>
              <a:gd name="adj" fmla="val 17178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190875"/>
            <a:ext cx="15716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tu nombre y deletréalo en inglés: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695700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Ejemplo: ANA → ei · en · ei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52500" y="4819650"/>
            <a:ext cx="15125700" cy="1552575"/>
          </a:xfrm>
          <a:prstGeom prst="roundRect">
            <a:avLst>
              <a:gd name="adj" fmla="val 17178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5124450"/>
            <a:ext cx="15716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Une cada comando con su traducción: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71600" y="562927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Stand up · Sit down · Listen → Escucha · Ponte de pie · Siéntate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700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58492"/>
            <a:ext cx="465832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91842"/>
            <a:ext cx="42265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 FINISH · 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44342"/>
            <a:ext cx="156972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When I say «Stand up», what do you do?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61044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B1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¡Escucha la orden en inglés y respóndela con tu cuerpo!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76033"/>
            <a:ext cx="4603254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47483"/>
            <a:ext cx="3979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Good job! · ¡Buen trabajo!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2026-07-21T12:01:55Z</dcterms:created>
  <dcterms:modified xsi:type="dcterms:W3CDTF">2026-07-21T12:01:55Z</dcterms:modified>
</cp:coreProperties>
</file>