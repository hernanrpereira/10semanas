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si un robot está en una casilla y avanza 3 a la derecha y 2 arriba, ¿a dónde llega?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7 de Matemáticas: describir y representar recorridos y ubicaciones, uniendo con conteo y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direcciones. Temporizador de 5 minutos. Pide que señalen su derecha e izquierda con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cuadrícula y contar casillas.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Mezcla con operaciones: contar pasos totales.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Restar pasos: cuántos faltan.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1) derecha. 2) 2+4=6 pasos. 3) 9-6=3 casillas. Corrección colectiva dibujando en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las 4 direcciones. Si el robot da 3 pasos y luego 2, ¿cuántos son?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81A1B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181A1B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181A1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7" name="Shape 5"/>
          <p:cNvSpPr/>
          <p:nvPr/>
        </p:nvSpPr>
        <p:spPr>
          <a:xfrm>
            <a:off x="6631781" y="3038475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0881" y="3190875"/>
            <a:ext cx="2130475" cy="39052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9" name="Text 7"/>
          <p:cNvSpPr/>
          <p:nvPr/>
        </p:nvSpPr>
        <p:spPr>
          <a:xfrm>
            <a:off x="6944358" y="3190875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3756" y="3190875"/>
            <a:ext cx="149870" cy="39052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1" name="Text 9"/>
          <p:cNvSpPr/>
          <p:nvPr/>
        </p:nvSpPr>
        <p:spPr>
          <a:xfrm>
            <a:off x="9295656" y="319087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636026" y="3190875"/>
            <a:ext cx="1601093" cy="39052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3" name="Text 11"/>
          <p:cNvSpPr/>
          <p:nvPr/>
        </p:nvSpPr>
        <p:spPr>
          <a:xfrm>
            <a:off x="9555971" y="319087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132487" y="4076700"/>
            <a:ext cx="8023027" cy="100012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5" name="Text 13"/>
          <p:cNvSpPr/>
          <p:nvPr/>
        </p:nvSpPr>
        <p:spPr>
          <a:xfrm>
            <a:off x="4731335" y="4076700"/>
            <a:ext cx="8825329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77"/>
              </a:lnSpc>
              <a:buNone/>
            </a:pPr>
            <a:r>
              <a:rPr lang="en-US" sz="7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Ubicación Espacial</a:t>
            </a:r>
            <a:endParaRPr lang="en-US" sz="7500" dirty="0"/>
          </a:p>
        </p:txBody>
      </p:sp>
      <p:sp>
        <p:nvSpPr>
          <p:cNvPr id="16" name="Shape 14"/>
          <p:cNvSpPr/>
          <p:nvPr/>
        </p:nvSpPr>
        <p:spPr>
          <a:xfrm>
            <a:off x="3789611" y="5419725"/>
            <a:ext cx="1070863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7" name="Text 15"/>
          <p:cNvSpPr/>
          <p:nvPr/>
        </p:nvSpPr>
        <p:spPr>
          <a:xfrm>
            <a:off x="3254179" y="5419725"/>
            <a:ext cx="1177949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Derecha, izquierda, arriba, abajo · ¡Movemos el robot! 🤖</a:t>
            </a:r>
            <a:endParaRPr lang="en-US" sz="3150" dirty="0"/>
          </a:p>
        </p:txBody>
      </p:sp>
      <p:sp>
        <p:nvSpPr>
          <p:cNvPr id="18" name="Shape 16"/>
          <p:cNvSpPr/>
          <p:nvPr/>
        </p:nvSpPr>
        <p:spPr>
          <a:xfrm>
            <a:off x="7029450" y="6334125"/>
            <a:ext cx="4229100" cy="9144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7029450" y="6334125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181A1B"/>
          </a:solidFill>
          <a:ln/>
        </p:spPr>
      </p:sp>
      <p:sp>
        <p:nvSpPr>
          <p:cNvPr id="20" name="Text 18"/>
          <p:cNvSpPr/>
          <p:nvPr/>
        </p:nvSpPr>
        <p:spPr>
          <a:xfrm>
            <a:off x="6991350" y="633412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⬅️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8134350" y="6334125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181A1B"/>
          </a:solidFill>
          <a:ln/>
        </p:spPr>
      </p:sp>
      <p:sp>
        <p:nvSpPr>
          <p:cNvPr id="22" name="Text 20"/>
          <p:cNvSpPr/>
          <p:nvPr/>
        </p:nvSpPr>
        <p:spPr>
          <a:xfrm>
            <a:off x="8096250" y="633412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⬆️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9239250" y="6334125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181A1B"/>
          </a:solidFill>
          <a:ln/>
        </p:spPr>
      </p:sp>
      <p:sp>
        <p:nvSpPr>
          <p:cNvPr id="24" name="Text 22"/>
          <p:cNvSpPr/>
          <p:nvPr/>
        </p:nvSpPr>
        <p:spPr>
          <a:xfrm>
            <a:off x="9201150" y="633412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⬇️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10344150" y="6334125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181A1B"/>
          </a:solidFill>
          <a:ln/>
        </p:spPr>
      </p:sp>
      <p:sp>
        <p:nvSpPr>
          <p:cNvPr id="26" name="Text 24"/>
          <p:cNvSpPr/>
          <p:nvPr/>
        </p:nvSpPr>
        <p:spPr>
          <a:xfrm>
            <a:off x="10306050" y="633412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➡️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16383000" cy="92392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371725"/>
            <a:ext cx="14287500" cy="43053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2324100" y="2757488"/>
            <a:ext cx="9285536" cy="48577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9" name="Text 7"/>
          <p:cNvSpPr/>
          <p:nvPr/>
        </p:nvSpPr>
        <p:spPr>
          <a:xfrm>
            <a:off x="2324100" y="2757488"/>
            <a:ext cx="1021408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highlight>
                  <a:srgbClr val="181A1B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Usar derecha, izquierda, arriba y abajo para ubicarnos.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181A1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2324100" y="4281488"/>
            <a:ext cx="9219307" cy="48577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4" name="Text 12"/>
          <p:cNvSpPr/>
          <p:nvPr/>
        </p:nvSpPr>
        <p:spPr>
          <a:xfrm>
            <a:off x="2324100" y="4281488"/>
            <a:ext cx="1014123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highlight>
                  <a:srgbClr val="181A1B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Seguir recorridos en una cuadrícula contando casillas.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181A1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2324100" y="5805488"/>
            <a:ext cx="5861447" cy="48577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9" name="Text 17"/>
          <p:cNvSpPr/>
          <p:nvPr/>
        </p:nvSpPr>
        <p:spPr>
          <a:xfrm>
            <a:off x="2324100" y="5805488"/>
            <a:ext cx="64475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highlight>
                  <a:srgbClr val="181A1B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Unir los pasos con sumas y restas.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52500" y="7172325"/>
            <a:ext cx="16383000" cy="390525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16383000" cy="62865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81A1B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1733550"/>
            <a:ext cx="16383000" cy="6858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4 direcciones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52500" y="2762250"/>
            <a:ext cx="15240000" cy="16764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762250"/>
            <a:ext cx="3667125" cy="1676400"/>
          </a:xfrm>
          <a:prstGeom prst="roundRect">
            <a:avLst>
              <a:gd name="adj" fmla="val 13636"/>
            </a:avLst>
          </a:prstGeom>
          <a:solidFill>
            <a:srgbClr val="181A1B"/>
          </a:solidFill>
          <a:ln/>
        </p:spPr>
      </p:sp>
      <p:sp>
        <p:nvSpPr>
          <p:cNvPr id="9" name="Shape 7"/>
          <p:cNvSpPr/>
          <p:nvPr/>
        </p:nvSpPr>
        <p:spPr>
          <a:xfrm>
            <a:off x="1085850" y="3009900"/>
            <a:ext cx="3400425" cy="762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0" name="Text 8"/>
          <p:cNvSpPr/>
          <p:nvPr/>
        </p:nvSpPr>
        <p:spPr>
          <a:xfrm>
            <a:off x="915829" y="3009900"/>
            <a:ext cx="37404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⬅️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085850" y="3848100"/>
            <a:ext cx="3400425" cy="3429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2" name="Text 10"/>
          <p:cNvSpPr/>
          <p:nvPr/>
        </p:nvSpPr>
        <p:spPr>
          <a:xfrm>
            <a:off x="915829" y="3848100"/>
            <a:ext cx="37404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Izquierda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4810125" y="2762250"/>
            <a:ext cx="3667125" cy="1676400"/>
          </a:xfrm>
          <a:prstGeom prst="roundRect">
            <a:avLst>
              <a:gd name="adj" fmla="val 13636"/>
            </a:avLst>
          </a:prstGeom>
          <a:solidFill>
            <a:srgbClr val="181A1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43475" y="3009900"/>
            <a:ext cx="3400425" cy="762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454" y="3009900"/>
            <a:ext cx="37404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➡️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4943475" y="3848100"/>
            <a:ext cx="3400425" cy="3429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454" y="3848100"/>
            <a:ext cx="37404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Derecha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667750" y="2762250"/>
            <a:ext cx="3667125" cy="1676400"/>
          </a:xfrm>
          <a:prstGeom prst="roundRect">
            <a:avLst>
              <a:gd name="adj" fmla="val 13636"/>
            </a:avLst>
          </a:prstGeom>
          <a:solidFill>
            <a:srgbClr val="181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01100" y="3009900"/>
            <a:ext cx="3400425" cy="762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0" name="Text 18"/>
          <p:cNvSpPr/>
          <p:nvPr/>
        </p:nvSpPr>
        <p:spPr>
          <a:xfrm>
            <a:off x="8631079" y="3009900"/>
            <a:ext cx="37404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⬆️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8801100" y="3848100"/>
            <a:ext cx="3400425" cy="3429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2" name="Text 20"/>
          <p:cNvSpPr/>
          <p:nvPr/>
        </p:nvSpPr>
        <p:spPr>
          <a:xfrm>
            <a:off x="8631079" y="3848100"/>
            <a:ext cx="37404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Arriba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2525375" y="2762250"/>
            <a:ext cx="3667125" cy="1676400"/>
          </a:xfrm>
          <a:prstGeom prst="roundRect">
            <a:avLst>
              <a:gd name="adj" fmla="val 13636"/>
            </a:avLst>
          </a:prstGeom>
          <a:solidFill>
            <a:srgbClr val="181A1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658725" y="3009900"/>
            <a:ext cx="3400425" cy="762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5" name="Text 23"/>
          <p:cNvSpPr/>
          <p:nvPr/>
        </p:nvSpPr>
        <p:spPr>
          <a:xfrm>
            <a:off x="12488704" y="3009900"/>
            <a:ext cx="37404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⬇️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12658725" y="3848100"/>
            <a:ext cx="3400425" cy="3429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88704" y="3848100"/>
            <a:ext cx="37404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Abajo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16383000" cy="62865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81A1B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1562100"/>
            <a:ext cx="16383000" cy="66675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56210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Cuento casillas en la cuadrícula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2495550"/>
            <a:ext cx="16383000" cy="2476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495550"/>
            <a:ext cx="3086100" cy="2476500"/>
          </a:xfrm>
          <a:prstGeom prst="roundRect">
            <a:avLst>
              <a:gd name="adj" fmla="val 4615"/>
            </a:avLst>
          </a:prstGeom>
          <a:solidFill>
            <a:srgbClr val="181A1B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25336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25336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1" name="Shape 9"/>
          <p:cNvSpPr/>
          <p:nvPr/>
        </p:nvSpPr>
        <p:spPr>
          <a:xfrm>
            <a:off x="2209800" y="25336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2819400" y="25336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25336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31432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31432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🤖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2209800" y="31432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9400" y="31432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31432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0" name="Text 18"/>
          <p:cNvSpPr/>
          <p:nvPr/>
        </p:nvSpPr>
        <p:spPr>
          <a:xfrm>
            <a:off x="33909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90600" y="37528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37528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3" name="Shape 21"/>
          <p:cNvSpPr/>
          <p:nvPr/>
        </p:nvSpPr>
        <p:spPr>
          <a:xfrm>
            <a:off x="2209800" y="37528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4" name="Shape 22"/>
          <p:cNvSpPr/>
          <p:nvPr/>
        </p:nvSpPr>
        <p:spPr>
          <a:xfrm>
            <a:off x="2819400" y="37528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37528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6" name="Shape 24"/>
          <p:cNvSpPr/>
          <p:nvPr/>
        </p:nvSpPr>
        <p:spPr>
          <a:xfrm>
            <a:off x="990600" y="43624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0200" y="43624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8" name="Shape 26"/>
          <p:cNvSpPr/>
          <p:nvPr/>
        </p:nvSpPr>
        <p:spPr>
          <a:xfrm>
            <a:off x="2209800" y="43624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29" name="Shape 27"/>
          <p:cNvSpPr/>
          <p:nvPr/>
        </p:nvSpPr>
        <p:spPr>
          <a:xfrm>
            <a:off x="2819400" y="43624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4362450"/>
            <a:ext cx="571500" cy="571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14850" y="3200400"/>
            <a:ext cx="6096000" cy="10668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2" name="Shape 30"/>
          <p:cNvSpPr/>
          <p:nvPr/>
        </p:nvSpPr>
        <p:spPr>
          <a:xfrm>
            <a:off x="4514850" y="3200400"/>
            <a:ext cx="6096000" cy="10668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3" name="Text 31"/>
          <p:cNvSpPr/>
          <p:nvPr/>
        </p:nvSpPr>
        <p:spPr>
          <a:xfrm>
            <a:off x="4514850" y="3200400"/>
            <a:ext cx="627888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2700" b="1" dirty="0">
                <a:solidFill>
                  <a:srgbClr val="E8E6E3"/>
                </a:solidFill>
                <a:highlight>
                  <a:srgbClr val="181A1B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El robot 🤖 avanza </a:t>
            </a:r>
            <a:pPr algn="l" indent="0" marL="0">
              <a:lnSpc>
                <a:spcPct val="110204"/>
              </a:lnSpc>
              <a:buNone/>
            </a:pPr>
            <a:r>
              <a:rPr lang="en-US" sz="2700" b="1" dirty="0">
                <a:solidFill>
                  <a:srgbClr val="E8E6E3"/>
                </a:solidFill>
                <a:highlight>
                  <a:srgbClr val="181A1B"/>
                </a:highlight>
                <a:latin typeface="Fredoka" pitchFamily="34" charset="0"/>
                <a:ea typeface="Fredoka" pitchFamily="34" charset="-122"/>
                <a:cs typeface="Fredoka" pitchFamily="34" charset="-120"/>
              </a:rPr>
              <a:t>3 casillas a la derecha </a:t>
            </a:r>
            <a:pPr algn="l" indent="0" marL="0">
              <a:lnSpc>
                <a:spcPct val="110204"/>
              </a:lnSpc>
              <a:buNone/>
            </a:pPr>
            <a:r>
              <a:rPr lang="en-US" sz="2700" b="1" dirty="0">
                <a:solidFill>
                  <a:srgbClr val="E8E6E3"/>
                </a:solidFill>
                <a:highlight>
                  <a:srgbClr val="181A1B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para llegar a la estrella ⭐.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Cuento mis pasos con sumas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47950"/>
            <a:ext cx="16249650" cy="1771650"/>
          </a:xfrm>
          <a:prstGeom prst="roundRect">
            <a:avLst>
              <a:gd name="adj" fmla="val 12903"/>
            </a:avLst>
          </a:prstGeom>
          <a:solidFill>
            <a:srgbClr val="3D2600"/>
          </a:solidFill>
          <a:ln w="28575">
            <a:solidFill>
              <a:srgbClr val="A17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24175"/>
            <a:ext cx="169735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robot avanza </a:t>
            </a:r>
            <a:pPr algn="l" indent="0" marL="0">
              <a:buNone/>
            </a:pPr>
            <a:r>
              <a:rPr lang="en-US" sz="24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casillas a la derecha </a:t>
            </a:r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luego </a:t>
            </a:r>
            <a:pPr algn="l" indent="0" marL="0">
              <a:buNone/>
            </a:pPr>
            <a:r>
              <a:rPr lang="en-US" sz="240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hacia arriba</a:t>
            </a:r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¿Cuántos pasos dio en total?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62075" y="3467100"/>
            <a:ext cx="1797844" cy="676275"/>
          </a:xfrm>
          <a:prstGeom prst="roundRect">
            <a:avLst>
              <a:gd name="adj" fmla="val 25352"/>
            </a:avLst>
          </a:prstGeom>
          <a:solidFill>
            <a:srgbClr val="212425"/>
          </a:solidFill>
          <a:ln/>
        </p:spPr>
      </p:sp>
      <p:sp>
        <p:nvSpPr>
          <p:cNvPr id="8" name="Text 6"/>
          <p:cNvSpPr/>
          <p:nvPr/>
        </p:nvSpPr>
        <p:spPr>
          <a:xfrm>
            <a:off x="1647825" y="3600450"/>
            <a:ext cx="130254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+ 3 = 7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350419" y="3595688"/>
            <a:ext cx="419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883819" y="3467100"/>
            <a:ext cx="1725067" cy="676275"/>
          </a:xfrm>
          <a:prstGeom prst="roundRect">
            <a:avLst>
              <a:gd name="adj" fmla="val 25352"/>
            </a:avLst>
          </a:prstGeom>
          <a:solidFill>
            <a:srgbClr val="6EA11E"/>
          </a:solidFill>
          <a:ln/>
        </p:spPr>
      </p:sp>
      <p:sp>
        <p:nvSpPr>
          <p:cNvPr id="11" name="Text 9"/>
          <p:cNvSpPr/>
          <p:nvPr/>
        </p:nvSpPr>
        <p:spPr>
          <a:xfrm>
            <a:off x="4169569" y="3600450"/>
            <a:ext cx="122976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7 pasos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¿Cuántas casillas faltan?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47950"/>
            <a:ext cx="16249650" cy="1771650"/>
          </a:xfrm>
          <a:prstGeom prst="roundRect">
            <a:avLst>
              <a:gd name="adj" fmla="val 12903"/>
            </a:avLst>
          </a:prstGeom>
          <a:solidFill>
            <a:srgbClr val="3D2600"/>
          </a:solidFill>
          <a:ln w="28575">
            <a:solidFill>
              <a:srgbClr val="A17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24175"/>
            <a:ext cx="169735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meta está a </a:t>
            </a:r>
            <a:pPr algn="l" indent="0" marL="0">
              <a:buNone/>
            </a:pPr>
            <a:r>
              <a:rPr lang="en-US" sz="24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casillas</a:t>
            </a:r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El robot ya avanzó </a:t>
            </a:r>
            <a:pPr algn="l" indent="0" marL="0">
              <a:buNone/>
            </a:pPr>
            <a:r>
              <a:rPr lang="en-US" sz="240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¿Cuántas le faltan?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62075" y="3467100"/>
            <a:ext cx="1800523" cy="676275"/>
          </a:xfrm>
          <a:prstGeom prst="roundRect">
            <a:avLst>
              <a:gd name="adj" fmla="val 25352"/>
            </a:avLst>
          </a:prstGeom>
          <a:solidFill>
            <a:srgbClr val="400507"/>
          </a:solidFill>
          <a:ln/>
        </p:spPr>
      </p:sp>
      <p:sp>
        <p:nvSpPr>
          <p:cNvPr id="8" name="Text 6"/>
          <p:cNvSpPr/>
          <p:nvPr/>
        </p:nvSpPr>
        <p:spPr>
          <a:xfrm>
            <a:off x="1647825" y="3600450"/>
            <a:ext cx="13052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8 − 5 = 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353098" y="3595688"/>
            <a:ext cx="419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886498" y="3467100"/>
            <a:ext cx="3070324" cy="676275"/>
          </a:xfrm>
          <a:prstGeom prst="roundRect">
            <a:avLst>
              <a:gd name="adj" fmla="val 25352"/>
            </a:avLst>
          </a:prstGeom>
          <a:solidFill>
            <a:srgbClr val="970005"/>
          </a:solidFill>
          <a:ln/>
        </p:spPr>
      </p:sp>
      <p:sp>
        <p:nvSpPr>
          <p:cNvPr id="11" name="Text 9"/>
          <p:cNvSpPr/>
          <p:nvPr/>
        </p:nvSpPr>
        <p:spPr>
          <a:xfrm>
            <a:off x="4172248" y="3600450"/>
            <a:ext cx="25909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Faltan 3 casillas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430500" cy="809625"/>
          </a:xfrm>
          <a:prstGeom prst="roundRect">
            <a:avLst>
              <a:gd name="adj" fmla="val 2588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57300" y="2933700"/>
            <a:ext cx="163029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1) </a:t>
            </a:r>
            <a:pPr algn="l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pasar la mano por encima de la mesa, ¿la muevo a la izquierda o a la derecha? Dibújalo.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3686175"/>
            <a:ext cx="15430500" cy="809625"/>
          </a:xfrm>
          <a:prstGeom prst="roundRect">
            <a:avLst>
              <a:gd name="adj" fmla="val 2588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57300" y="3895725"/>
            <a:ext cx="163029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2) </a:t>
            </a:r>
            <a:pPr algn="l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robot da 2 pasos a la derecha y 4 hacia arriba. ¿Cuántos pasos en total?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648200"/>
            <a:ext cx="15430500" cy="809625"/>
          </a:xfrm>
          <a:prstGeom prst="roundRect">
            <a:avLst>
              <a:gd name="adj" fmla="val 2588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57300" y="4857750"/>
            <a:ext cx="163029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3) </a:t>
            </a:r>
            <a:pPr algn="l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meta está a 9 casillas y ya avanzó 6. ¿Cuántas faltan?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6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las 4 direcciones. Si das 3 pasos y luego 2, ¿cuántos son?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D0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8874026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837824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te ubicaste y calculaste como un robot experto!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2026-08-10T12:02:37Z</dcterms:created>
  <dcterms:modified xsi:type="dcterms:W3CDTF">2026-08-10T12:02:37Z</dcterms:modified>
</cp:coreProperties>
</file>