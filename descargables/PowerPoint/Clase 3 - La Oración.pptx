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 con energía. Pregunta detonadora: escribe en el tablero «el perro corre en el parque» sin mayúscula ni punto y pregunta: ¿qué le falta a este mensaje? Escucha ideas.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objetivos con los niños. DBA 8 de Lenguaje: producir textos siguiendo las reglas básicas de escritura.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niños copian la definición. Temporizador de 5 minutos. Lee la definición en voz alta primero y da ejemplos orales: pide a 2 o 3 niños que digan una idea completa.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regla de oro: mayúscula y punto. Señala en el ejemplo la M grande roja y el punto azul.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Otros usos de la mayúscula: nombres propios. Pide a varios niños decir su nombre y apunta que siempre van con mayúscula.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Ejemplos para copiar: 3 oraciones correctas. Los niños subrayan la mayúscula con rojo y encierran el punto con azul en su cuaderno.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individual: corregir 3 oraciones mal escritas y escribir 2 propias. 10 minutos. Corrige en el tablero con voluntarios: El perro ladra fuerte. / Ana come manzana. / Bogotá es una ciudad grande.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verificación: toda oración empieza con mayúscula y termina con punto. Pide 3 ejemplos orales. Felicita y anuncia la ficha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3619500" cy="3619500"/>
          </a:xfrm>
          <a:prstGeom prst="ellipse">
            <a:avLst/>
          </a:prstGeom>
          <a:solidFill>
            <a:srgbClr val="970005"/>
          </a:solidFill>
          <a:ln/>
        </p:spPr>
      </p:sp>
      <p:sp>
        <p:nvSpPr>
          <p:cNvPr id="3" name="Shape 1"/>
          <p:cNvSpPr/>
          <p:nvPr/>
        </p:nvSpPr>
        <p:spPr>
          <a:xfrm>
            <a:off x="15240000" y="7620000"/>
            <a:ext cx="4000500" cy="4000500"/>
          </a:xfrm>
          <a:prstGeom prst="ellipse">
            <a:avLst/>
          </a:prstGeom>
          <a:solidFill>
            <a:srgbClr val="7F5D00"/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15049500" y="1143000"/>
            <a:ext cx="1143001" cy="1143001"/>
          </a:xfrm>
          <a:prstGeom prst="roundRect">
            <a:avLst>
              <a:gd name="adj" fmla="val 23333"/>
            </a:avLst>
          </a:prstGeom>
          <a:solidFill>
            <a:srgbClr val="14689D"/>
          </a:solidFill>
          <a:ln/>
        </p:spPr>
      </p:sp>
      <p:sp>
        <p:nvSpPr>
          <p:cNvPr id="5" name="Shape 3"/>
          <p:cNvSpPr/>
          <p:nvPr/>
        </p:nvSpPr>
        <p:spPr>
          <a:xfrm>
            <a:off x="1905000" y="7715250"/>
            <a:ext cx="857250" cy="857250"/>
          </a:xfrm>
          <a:prstGeom prst="ellipse">
            <a:avLst/>
          </a:prstGeom>
          <a:solidFill>
            <a:srgbClr val="6EA11E"/>
          </a:solidFill>
          <a:ln/>
        </p:spPr>
      </p:sp>
      <p:sp>
        <p:nvSpPr>
          <p:cNvPr id="6" name="Shape 4"/>
          <p:cNvSpPr/>
          <p:nvPr/>
        </p:nvSpPr>
        <p:spPr>
          <a:xfrm>
            <a:off x="6948785" y="2776538"/>
            <a:ext cx="4390281" cy="695325"/>
          </a:xfrm>
          <a:prstGeom prst="roundRect">
            <a:avLst>
              <a:gd name="adj" fmla="val 50000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76200" dir="5400000">
              <a:srgbClr val="222233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93069" y="2928938"/>
            <a:ext cx="16459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ESPAÑOL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8978503" y="2928938"/>
            <a:ext cx="226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•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238818" y="2928938"/>
            <a:ext cx="17612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GRADO 2°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020784" y="3814763"/>
            <a:ext cx="8246284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2474"/>
              </a:lnSpc>
              <a:buNone/>
            </a:pPr>
            <a:r>
              <a:rPr lang="en-US" sz="120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La Oración</a:t>
            </a:r>
            <a:endParaRPr lang="en-US" sz="12000" dirty="0"/>
          </a:p>
        </p:txBody>
      </p:sp>
      <p:sp>
        <p:nvSpPr>
          <p:cNvPr id="11" name="Text 9"/>
          <p:cNvSpPr/>
          <p:nvPr/>
        </p:nvSpPr>
        <p:spPr>
          <a:xfrm>
            <a:off x="5371936" y="5681663"/>
            <a:ext cx="754412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Mayúscula al inicio y punto al final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6272659" y="6596063"/>
            <a:ext cx="1043880" cy="914400"/>
          </a:xfrm>
          <a:prstGeom prst="roundRect">
            <a:avLst>
              <a:gd name="adj" fmla="val 25000"/>
            </a:avLst>
          </a:prstGeom>
          <a:solidFill>
            <a:srgbClr val="970005"/>
          </a:solidFill>
          <a:ln/>
        </p:spPr>
      </p:sp>
      <p:sp>
        <p:nvSpPr>
          <p:cNvPr id="13" name="Text 11"/>
          <p:cNvSpPr/>
          <p:nvPr/>
        </p:nvSpPr>
        <p:spPr>
          <a:xfrm>
            <a:off x="6539359" y="6729413"/>
            <a:ext cx="5104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7468939" y="6596063"/>
            <a:ext cx="3516213" cy="914400"/>
          </a:xfrm>
          <a:prstGeom prst="roundRect">
            <a:avLst>
              <a:gd name="adj" fmla="val 25000"/>
            </a:avLst>
          </a:prstGeom>
          <a:solidFill>
            <a:srgbClr val="181A1B"/>
          </a:solidFill>
          <a:ln/>
        </p:spPr>
      </p:sp>
      <p:sp>
        <p:nvSpPr>
          <p:cNvPr id="15" name="Text 13"/>
          <p:cNvSpPr/>
          <p:nvPr/>
        </p:nvSpPr>
        <p:spPr>
          <a:xfrm>
            <a:off x="7720996" y="6729413"/>
            <a:ext cx="30121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 perro salta</a:t>
            </a:r>
            <a:endParaRPr lang="en-US" sz="4200" dirty="0"/>
          </a:p>
        </p:txBody>
      </p:sp>
      <p:sp>
        <p:nvSpPr>
          <p:cNvPr id="16" name="Shape 14"/>
          <p:cNvSpPr/>
          <p:nvPr/>
        </p:nvSpPr>
        <p:spPr>
          <a:xfrm>
            <a:off x="11137553" y="6596063"/>
            <a:ext cx="877788" cy="914400"/>
          </a:xfrm>
          <a:prstGeom prst="roundRect">
            <a:avLst>
              <a:gd name="adj" fmla="val 26043"/>
            </a:avLst>
          </a:prstGeom>
          <a:solidFill>
            <a:srgbClr val="14689D"/>
          </a:solidFill>
          <a:ln/>
        </p:spPr>
      </p:sp>
      <p:sp>
        <p:nvSpPr>
          <p:cNvPr id="17" name="Text 15"/>
          <p:cNvSpPr/>
          <p:nvPr/>
        </p:nvSpPr>
        <p:spPr>
          <a:xfrm>
            <a:off x="11480453" y="6729413"/>
            <a:ext cx="191988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.</a:t>
            </a:r>
            <a:endParaRPr lang="en-US" sz="4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D2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aprenderemos hoy?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52500" y="2371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638425"/>
            <a:ext cx="723900" cy="723900"/>
          </a:xfrm>
          <a:prstGeom prst="ellipse">
            <a:avLst/>
          </a:prstGeom>
          <a:solidFill>
            <a:srgbClr val="970005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38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24100" y="2757488"/>
            <a:ext cx="1151821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Saber qué es una </a:t>
            </a:r>
            <a:pPr algn="l" indent="0" marL="0">
              <a:buNone/>
            </a:pPr>
            <a:r>
              <a:rPr lang="en-US" sz="2850" b="1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oración </a:t>
            </a:r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qué necesita para estar completa.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3895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3500" y="4162425"/>
            <a:ext cx="723900" cy="723900"/>
          </a:xfrm>
          <a:prstGeom prst="ellipse">
            <a:avLst/>
          </a:prstGeom>
          <a:solidFill>
            <a:srgbClr val="7F5D0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162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324100" y="4281488"/>
            <a:ext cx="10256981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Empezar siempre con </a:t>
            </a:r>
            <a:pPr algn="l" indent="0" marL="0">
              <a:buNone/>
            </a:pPr>
            <a:r>
              <a:rPr lang="en-US" sz="285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mayúscula </a:t>
            </a:r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terminar con </a:t>
            </a:r>
            <a:pPr algn="l" indent="0" marL="0">
              <a:buNone/>
            </a:pPr>
            <a:r>
              <a:rPr lang="en-US" sz="2850" b="1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punto</a:t>
            </a:r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52500" y="5419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33500" y="5686425"/>
            <a:ext cx="723900" cy="723900"/>
          </a:xfrm>
          <a:prstGeom prst="ellipse">
            <a:avLst/>
          </a:prstGeom>
          <a:solidFill>
            <a:srgbClr val="6EA11E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86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324100" y="5805488"/>
            <a:ext cx="988208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Escribir nuestras propias oraciones bien construidas.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52500" y="7172325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Necesitas: cuaderno de español, lápiz y tu imaginación.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970005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71650"/>
            <a:ext cx="180213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FF585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La oración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952500" y="3028950"/>
            <a:ext cx="15106650" cy="1390650"/>
          </a:xfrm>
          <a:prstGeom prst="roundRect">
            <a:avLst>
              <a:gd name="adj" fmla="val 13699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1544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3152775"/>
            <a:ext cx="1471612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Una oración es un grupo de palabras ordenadas que expresan una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idea completa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52500" y="4800600"/>
            <a:ext cx="6953250" cy="1419225"/>
          </a:xfrm>
          <a:prstGeom prst="roundRect">
            <a:avLst>
              <a:gd name="adj" fmla="val 16107"/>
            </a:avLst>
          </a:prstGeom>
          <a:solidFill>
            <a:srgbClr val="25300C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5067300"/>
            <a:ext cx="689419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A3DC4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✓ SÍ es oración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95400" y="5495925"/>
            <a:ext cx="689419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Mi gato duerme en la cama.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8286750" y="4800600"/>
            <a:ext cx="6953250" cy="1419225"/>
          </a:xfrm>
          <a:prstGeom prst="roundRect">
            <a:avLst>
              <a:gd name="adj" fmla="val 16107"/>
            </a:avLst>
          </a:prstGeom>
          <a:solidFill>
            <a:srgbClr val="400507"/>
          </a:solidFill>
          <a:ln/>
        </p:spPr>
      </p:sp>
      <p:sp>
        <p:nvSpPr>
          <p:cNvPr id="11" name="Text 9"/>
          <p:cNvSpPr/>
          <p:nvPr/>
        </p:nvSpPr>
        <p:spPr>
          <a:xfrm>
            <a:off x="8629650" y="5067300"/>
            <a:ext cx="689419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✗ NO es oración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8629650" y="5495925"/>
            <a:ext cx="689419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gato la cama duerme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970005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49AAE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La regla de oro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952500" y="2857500"/>
            <a:ext cx="15106650" cy="819150"/>
          </a:xfrm>
          <a:prstGeom prst="roundRect">
            <a:avLst>
              <a:gd name="adj" fmla="val 23256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1544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2981325"/>
            <a:ext cx="157162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Toda oración empieza con letra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MAYÚSCULA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termina con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punto (.)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52500" y="4019550"/>
            <a:ext cx="15125700" cy="1819275"/>
          </a:xfrm>
          <a:prstGeom prst="roundRect">
            <a:avLst>
              <a:gd name="adj" fmla="val 14660"/>
            </a:avLst>
          </a:prstGeom>
          <a:solidFill>
            <a:srgbClr val="3D2600"/>
          </a:solidFill>
          <a:ln/>
        </p:spPr>
      </p:sp>
      <p:sp>
        <p:nvSpPr>
          <p:cNvPr id="8" name="Shape 6"/>
          <p:cNvSpPr/>
          <p:nvPr/>
        </p:nvSpPr>
        <p:spPr>
          <a:xfrm>
            <a:off x="4273600" y="4438650"/>
            <a:ext cx="920948" cy="981075"/>
          </a:xfrm>
          <a:prstGeom prst="roundRect">
            <a:avLst>
              <a:gd name="adj" fmla="val 20685"/>
            </a:avLst>
          </a:prstGeom>
          <a:solidFill>
            <a:srgbClr val="970005"/>
          </a:solidFill>
          <a:ln/>
        </p:spPr>
      </p:sp>
      <p:sp>
        <p:nvSpPr>
          <p:cNvPr id="9" name="Text 7"/>
          <p:cNvSpPr/>
          <p:nvPr/>
        </p:nvSpPr>
        <p:spPr>
          <a:xfrm>
            <a:off x="4540300" y="4514850"/>
            <a:ext cx="479643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5270748" y="4514850"/>
            <a:ext cx="7484537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os niños juegan fútbol</a:t>
            </a:r>
            <a:endParaRPr lang="en-US" sz="5400" dirty="0"/>
          </a:p>
        </p:txBody>
      </p:sp>
      <p:sp>
        <p:nvSpPr>
          <p:cNvPr id="11" name="Shape 9"/>
          <p:cNvSpPr/>
          <p:nvPr/>
        </p:nvSpPr>
        <p:spPr>
          <a:xfrm>
            <a:off x="12151072" y="4438650"/>
            <a:ext cx="606028" cy="981075"/>
          </a:xfrm>
          <a:prstGeom prst="roundRect">
            <a:avLst>
              <a:gd name="adj" fmla="val 31434"/>
            </a:avLst>
          </a:prstGeom>
          <a:solidFill>
            <a:srgbClr val="14689D"/>
          </a:solidFill>
          <a:ln/>
        </p:spPr>
      </p:sp>
      <p:sp>
        <p:nvSpPr>
          <p:cNvPr id="12" name="Text 10"/>
          <p:cNvSpPr/>
          <p:nvPr/>
        </p:nvSpPr>
        <p:spPr>
          <a:xfrm>
            <a:off x="12379672" y="4514850"/>
            <a:ext cx="209431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.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5303490" y="6181725"/>
            <a:ext cx="326996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▲ mayúscula al inicio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8657183" y="6181725"/>
            <a:ext cx="245484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punto al final ▲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970005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A3DC4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También usamos mayúscula en...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952500" y="2857500"/>
            <a:ext cx="647700" cy="647700"/>
          </a:xfrm>
          <a:prstGeom prst="ellipse">
            <a:avLst/>
          </a:prstGeom>
          <a:solidFill>
            <a:srgbClr val="97000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8575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47850" y="2947988"/>
            <a:ext cx="785763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Los nombres de personas: </a:t>
            </a:r>
            <a:pPr algn="l" indent="0" marL="0">
              <a:buNone/>
            </a:pPr>
            <a:r>
              <a:rPr lang="en-US" sz="2700" b="1" dirty="0">
                <a:solidFill>
                  <a:srgbClr val="49AAE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Ana, Carlos, Sofía</a:t>
            </a:r>
            <a:pPr algn="l" indent="0" marL="0">
              <a:buNone/>
            </a:pPr>
            <a:r>
              <a:rPr lang="en-US" sz="27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52500" y="3714750"/>
            <a:ext cx="647700" cy="647700"/>
          </a:xfrm>
          <a:prstGeom prst="ellipse">
            <a:avLst/>
          </a:prstGeom>
          <a:solidFill>
            <a:srgbClr val="7F5D0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71475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847850" y="3805237"/>
            <a:ext cx="837774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Los nombres de lugares: </a:t>
            </a:r>
            <a:pPr algn="l" indent="0" marL="0">
              <a:buNone/>
            </a:pPr>
            <a:r>
              <a:rPr lang="en-US" sz="2700" b="1" dirty="0">
                <a:solidFill>
                  <a:srgbClr val="49AAE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Colombia, Bogotá, Cali</a:t>
            </a:r>
            <a:pPr algn="l" indent="0" marL="0">
              <a:buNone/>
            </a:pPr>
            <a:r>
              <a:rPr lang="en-US" sz="27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52500" y="4572000"/>
            <a:ext cx="647700" cy="647700"/>
          </a:xfrm>
          <a:prstGeom prst="ellipse">
            <a:avLst/>
          </a:prstGeom>
          <a:solidFill>
            <a:srgbClr val="14689D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5720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847850" y="4662488"/>
            <a:ext cx="8451086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Los nombres de mascotas: </a:t>
            </a:r>
            <a:pPr algn="l" indent="0" marL="0">
              <a:buNone/>
            </a:pPr>
            <a:r>
              <a:rPr lang="en-US" sz="2700" b="1" dirty="0">
                <a:solidFill>
                  <a:srgbClr val="49AAE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Firulais, Michi, Rocky</a:t>
            </a:r>
            <a:pPr algn="l" indent="0" marL="0">
              <a:buNone/>
            </a:pPr>
            <a:r>
              <a:rPr lang="en-US" sz="27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52500" y="5429250"/>
            <a:ext cx="647700" cy="647700"/>
          </a:xfrm>
          <a:prstGeom prst="ellipse">
            <a:avLst/>
          </a:prstGeom>
          <a:solidFill>
            <a:srgbClr val="6EA11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42925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847850" y="5519738"/>
            <a:ext cx="11862658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Después de un punto, la siguiente oración empieza con mayúscula.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970005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9276B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Ejemplos de oraciones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952500" y="2857500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Cópialas, subraya la mayúscula con rojo y encierra el punto con azul.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52500" y="3590925"/>
            <a:ext cx="15106650" cy="2381250"/>
          </a:xfrm>
          <a:prstGeom prst="roundRect">
            <a:avLst>
              <a:gd name="adj" fmla="val 8000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1544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62075" y="3752850"/>
            <a:ext cx="157162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3450" b="1" dirty="0">
                <a:solidFill>
                  <a:srgbClr val="FF585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</a:t>
            </a:r>
            <a:pPr algn="l" indent="0" marL="0">
              <a:lnSpc>
                <a:spcPct val="128571"/>
              </a:lnSpc>
              <a:buNone/>
            </a:pPr>
            <a:r>
              <a:rPr lang="en-US" sz="345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aría juega con su pelota</a:t>
            </a:r>
            <a:pPr algn="l" indent="0" marL="0">
              <a:lnSpc>
                <a:spcPct val="128571"/>
              </a:lnSpc>
              <a:buNone/>
            </a:pPr>
            <a:r>
              <a:rPr lang="en-US" sz="3450" b="1" dirty="0">
                <a:solidFill>
                  <a:srgbClr val="49AAE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.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1362075" y="4438650"/>
            <a:ext cx="157162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3450" b="1" dirty="0">
                <a:solidFill>
                  <a:srgbClr val="FF585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</a:t>
            </a:r>
            <a:pPr algn="l" indent="0" marL="0">
              <a:lnSpc>
                <a:spcPct val="128571"/>
              </a:lnSpc>
              <a:buNone/>
            </a:pPr>
            <a:r>
              <a:rPr lang="en-US" sz="345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 sol brilla en el cielo</a:t>
            </a:r>
            <a:pPr algn="l" indent="0" marL="0">
              <a:lnSpc>
                <a:spcPct val="128571"/>
              </a:lnSpc>
              <a:buNone/>
            </a:pPr>
            <a:r>
              <a:rPr lang="en-US" sz="3450" b="1" dirty="0">
                <a:solidFill>
                  <a:srgbClr val="49AAE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.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362075" y="5124450"/>
            <a:ext cx="157162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3450" b="1" dirty="0">
                <a:solidFill>
                  <a:srgbClr val="FF585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V</a:t>
            </a:r>
            <a:pPr algn="l" indent="0" marL="0">
              <a:lnSpc>
                <a:spcPct val="128571"/>
              </a:lnSpc>
              <a:buNone/>
            </a:pPr>
            <a:r>
              <a:rPr lang="en-US" sz="345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ivo en Colombia con mi familia</a:t>
            </a:r>
            <a:pPr algn="l" indent="0" marL="0">
              <a:lnSpc>
                <a:spcPct val="128571"/>
              </a:lnSpc>
              <a:buNone/>
            </a:pPr>
            <a:r>
              <a:rPr lang="en-US" sz="3450" b="1" dirty="0">
                <a:solidFill>
                  <a:srgbClr val="49AAE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.</a:t>
            </a:r>
            <a:endParaRPr lang="en-US" sz="3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2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488906" cy="628650"/>
          </a:xfrm>
          <a:prstGeom prst="roundRect">
            <a:avLst>
              <a:gd name="adj" fmla="val 30303"/>
            </a:avLst>
          </a:prstGeom>
          <a:solidFill>
            <a:srgbClr val="970005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1120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AHORA TÚ · RESUELVE EN TU CUADERNO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71650"/>
            <a:ext cx="180213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¡A practicar!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952500" y="2933700"/>
            <a:ext cx="15125700" cy="1899196"/>
          </a:xfrm>
          <a:prstGeom prst="roundRect">
            <a:avLst>
              <a:gd name="adj" fmla="val 14043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3276600"/>
            <a:ext cx="157162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 Estas oraciones están enfermas. Escríbelas bien: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71600" y="3819525"/>
            <a:ext cx="1571625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30"/>
              </a:lnSpc>
              <a:buNone/>
            </a:pPr>
            <a:r>
              <a:rPr lang="en-US" sz="33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el perro ladra fuerte · ana come manzana · bogotá es una ciudad grande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952500" y="5213896"/>
            <a:ext cx="15125700" cy="1047750"/>
          </a:xfrm>
          <a:prstGeom prst="roundRect">
            <a:avLst>
              <a:gd name="adj" fmla="val 25455"/>
            </a:avLst>
          </a:prstGeom>
          <a:solidFill>
            <a:srgbClr val="553D76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5518696"/>
            <a:ext cx="157162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2. Escribe </a:t>
            </a:r>
            <a:pPr algn="l" indent="0" marL="0">
              <a:buNone/>
            </a:pPr>
            <a:r>
              <a:rPr lang="en-US" sz="2550" b="1" dirty="0">
                <a:solidFill>
                  <a:srgbClr val="FFCC4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 oraciones tuyas</a:t>
            </a:r>
            <a:pPr algn="l" indent="0" marL="0">
              <a:buNone/>
            </a:pPr>
            <a:r>
              <a:rPr lang="en-US" sz="2550" b="1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: una sobre tu familia y otra sobre tu juego favorito.</a:t>
            </a:r>
            <a:endParaRPr lang="en-US" sz="2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9700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414588"/>
            <a:ext cx="2960340" cy="628650"/>
          </a:xfrm>
          <a:prstGeom prst="roundRect">
            <a:avLst>
              <a:gd name="adj" fmla="val 30303"/>
            </a:avLst>
          </a:prstGeom>
          <a:solidFill>
            <a:srgbClr val="7F5D00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2547938"/>
            <a:ext cx="24776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TERMINAR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500438"/>
            <a:ext cx="15697200" cy="2228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41"/>
              </a:lnSpc>
              <a:buNone/>
            </a:pPr>
            <a:r>
              <a:rPr lang="en-US" sz="75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¿Cómo empieza y cómo termina toda oración?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952500" y="6148388"/>
            <a:ext cx="180213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B1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Levanta la mano y dinos un ejemplo.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500" y="7119938"/>
            <a:ext cx="6581477" cy="752475"/>
          </a:xfrm>
          <a:prstGeom prst="roundRect">
            <a:avLst>
              <a:gd name="adj" fmla="val 50000"/>
            </a:avLst>
          </a:prstGeom>
          <a:solidFill>
            <a:srgbClr val="181A1B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7291388"/>
            <a:ext cx="601692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585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¡Hoy escribiste como todo un escritor!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2026-07-21T12:00:18Z</dcterms:created>
  <dcterms:modified xsi:type="dcterms:W3CDTF">2026-07-21T12:00:18Z</dcterms:modified>
</cp:coreProperties>
</file>