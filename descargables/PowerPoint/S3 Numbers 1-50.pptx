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en inglés: Hello, children! Pregunta detonadora: How old are you? Count with me: one, two, three... Cuenta hasta 10 en inglés en coro.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22: Monólogo en inglés. Cada palabra con su traducción.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del 1 al 10 con traducción. Repitan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del 11 al 20 con traducción.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decenas del 20 al 50. Explica el patrón: twenty-one, twenty-two...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la edad. Practica en coro: I am seven years old.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Escriben números en inglés y su edad. Corrección en coro.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Count from 1 to 10 in English. Pide que digan su edad: I am... years old. Felicita: Good job!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265218" y="2919413"/>
            <a:ext cx="5757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1145" y="3071813"/>
            <a:ext cx="31497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ENGLISH · INGLÉS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62071" y="30718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22386" y="30718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920756" y="3957638"/>
            <a:ext cx="8446338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278"/>
              </a:lnSpc>
              <a:buNone/>
            </a:pPr>
            <a:r>
              <a:rPr lang="en-US" sz="97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Numbers 1–50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5285832" y="5538788"/>
            <a:ext cx="77161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números del 1 al 50 en inglés 🔢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553200" y="645318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5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645318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7620000" y="645318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CA3A"/>
          </a:solidFill>
          <a:ln/>
        </p:spPr>
      </p:sp>
      <p:sp>
        <p:nvSpPr>
          <p:cNvPr id="15" name="Text 13"/>
          <p:cNvSpPr/>
          <p:nvPr/>
        </p:nvSpPr>
        <p:spPr>
          <a:xfrm>
            <a:off x="7581900" y="645318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8686800" y="645318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8AC9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48700" y="645318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9753600" y="645318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198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645318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...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10820400" y="645318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6A4C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2300" y="645318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50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will we learn today? · ¿Qué aprenderemos?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590800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19388"/>
            <a:ext cx="697375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Contar del </a:t>
            </a:r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al 50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inglés (numbers).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3848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14800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14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43388"/>
            <a:ext cx="953910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Escribir y decir los números con buena </a:t>
            </a:r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pronunciación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372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38800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38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767388"/>
            <a:ext cx="890898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mi edad: </a:t>
            </a:r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 am … years old»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(Tengo … años).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" y="71247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· Necesitas: cuaderno de inglés, lápiz y tu mejor voz.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Numbers 1–10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884493" y="25717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 one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84493" y="29813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22390" y="24384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4054383" y="25717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two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054383" y="29813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92280" y="24384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E9F5D8"/>
          </a:solidFill>
          <a:ln/>
        </p:spPr>
      </p:sp>
      <p:sp>
        <p:nvSpPr>
          <p:cNvPr id="12" name="Text 10"/>
          <p:cNvSpPr/>
          <p:nvPr/>
        </p:nvSpPr>
        <p:spPr>
          <a:xfrm>
            <a:off x="7224273" y="25717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three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224273" y="29813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62171" y="24384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FF3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94164" y="25717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four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394164" y="29813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cuatro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632061" y="24384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3564054" y="25717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five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564054" y="29813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cinco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2500" y="35052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DE3E4"/>
          </a:solidFill>
          <a:ln/>
        </p:spPr>
      </p:sp>
      <p:sp>
        <p:nvSpPr>
          <p:cNvPr id="21" name="Text 19"/>
          <p:cNvSpPr/>
          <p:nvPr/>
        </p:nvSpPr>
        <p:spPr>
          <a:xfrm>
            <a:off x="884493" y="36385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 six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84493" y="40481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22390" y="35052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E3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4054383" y="36385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 seven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4054383" y="40481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siete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92280" y="35052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E9F5D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4273" y="36385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 eight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224273" y="40481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ocho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462171" y="35052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FF3D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4164" y="36385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9 nine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0394164" y="40481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nueve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632061" y="3505200"/>
            <a:ext cx="3036540" cy="933450"/>
          </a:xfrm>
          <a:prstGeom prst="roundRect">
            <a:avLst>
              <a:gd name="adj" fmla="val 18367"/>
            </a:avLst>
          </a:prstGeom>
          <a:solidFill>
            <a:srgbClr val="F1EAFB"/>
          </a:solidFill>
          <a:ln/>
        </p:spPr>
      </p:sp>
      <p:sp>
        <p:nvSpPr>
          <p:cNvPr id="33" name="Text 31"/>
          <p:cNvSpPr/>
          <p:nvPr/>
        </p:nvSpPr>
        <p:spPr>
          <a:xfrm>
            <a:off x="13564054" y="3638550"/>
            <a:ext cx="3172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10 ten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3564054" y="4048125"/>
            <a:ext cx="3172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diez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Numbers 11–20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884493" y="2571750"/>
            <a:ext cx="3172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11 eleven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84493" y="291465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22390" y="243840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4054383" y="2571750"/>
            <a:ext cx="3172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 twelve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054383" y="291465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92280" y="243840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E9F5D8"/>
          </a:solidFill>
          <a:ln/>
        </p:spPr>
      </p:sp>
      <p:sp>
        <p:nvSpPr>
          <p:cNvPr id="12" name="Text 10"/>
          <p:cNvSpPr/>
          <p:nvPr/>
        </p:nvSpPr>
        <p:spPr>
          <a:xfrm>
            <a:off x="7224273" y="2571750"/>
            <a:ext cx="3172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13 thirteen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24273" y="289560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62171" y="243840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FF3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94164" y="2571750"/>
            <a:ext cx="3172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14 fourteen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394164" y="289560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catorce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632061" y="243840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3564054" y="2571750"/>
            <a:ext cx="3172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15 fifteen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64054" y="289560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2500" y="340995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DE3E4"/>
          </a:solidFill>
          <a:ln/>
        </p:spPr>
      </p:sp>
      <p:sp>
        <p:nvSpPr>
          <p:cNvPr id="21" name="Text 19"/>
          <p:cNvSpPr/>
          <p:nvPr/>
        </p:nvSpPr>
        <p:spPr>
          <a:xfrm>
            <a:off x="884493" y="3543300"/>
            <a:ext cx="3172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16 sixteen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4493" y="386715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dieciséis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22390" y="340995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E3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4054383" y="3543300"/>
            <a:ext cx="3172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17 seventeen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054383" y="3838575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diecisiete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292280" y="340995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E9F5D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4273" y="3543300"/>
            <a:ext cx="3172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18 eighteen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224273" y="386715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dieciocho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462171" y="340995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FF3D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4164" y="3543300"/>
            <a:ext cx="3172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19 nineteen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394164" y="3838575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diecinueve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3632061" y="3409950"/>
            <a:ext cx="3036540" cy="838200"/>
          </a:xfrm>
          <a:prstGeom prst="roundRect">
            <a:avLst>
              <a:gd name="adj" fmla="val 20455"/>
            </a:avLst>
          </a:prstGeom>
          <a:solidFill>
            <a:srgbClr val="F1EAFB"/>
          </a:solidFill>
          <a:ln/>
        </p:spPr>
      </p:sp>
      <p:sp>
        <p:nvSpPr>
          <p:cNvPr id="33" name="Text 31"/>
          <p:cNvSpPr/>
          <p:nvPr/>
        </p:nvSpPr>
        <p:spPr>
          <a:xfrm>
            <a:off x="13564054" y="3543300"/>
            <a:ext cx="3172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 twenty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564054" y="3886200"/>
            <a:ext cx="3172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veinte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Tens · Las decenas (20–50)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47950"/>
            <a:ext cx="3800475" cy="1200150"/>
          </a:xfrm>
          <a:prstGeom prst="roundRect">
            <a:avLst>
              <a:gd name="adj" fmla="val 19048"/>
            </a:avLst>
          </a:prstGeom>
          <a:solidFill>
            <a:srgbClr val="E3F0FA"/>
          </a:solidFill>
          <a:ln/>
        </p:spPr>
      </p:sp>
      <p:sp>
        <p:nvSpPr>
          <p:cNvPr id="6" name="Text 4"/>
          <p:cNvSpPr/>
          <p:nvPr/>
        </p:nvSpPr>
        <p:spPr>
          <a:xfrm>
            <a:off x="909161" y="2876550"/>
            <a:ext cx="38871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 twenty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9161" y="3333750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veinte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924425" y="2647950"/>
            <a:ext cx="3800475" cy="1200150"/>
          </a:xfrm>
          <a:prstGeom prst="roundRect">
            <a:avLst>
              <a:gd name="adj" fmla="val 19048"/>
            </a:avLst>
          </a:prstGeom>
          <a:solidFill>
            <a:srgbClr val="E9F5D8"/>
          </a:solidFill>
          <a:ln/>
        </p:spPr>
      </p:sp>
      <p:sp>
        <p:nvSpPr>
          <p:cNvPr id="9" name="Text 7"/>
          <p:cNvSpPr/>
          <p:nvPr/>
        </p:nvSpPr>
        <p:spPr>
          <a:xfrm>
            <a:off x="4881086" y="2876550"/>
            <a:ext cx="38871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thirty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81086" y="3333750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treinta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896350" y="2647950"/>
            <a:ext cx="3800475" cy="1200150"/>
          </a:xfrm>
          <a:prstGeom prst="roundRect">
            <a:avLst>
              <a:gd name="adj" fmla="val 19048"/>
            </a:avLst>
          </a:prstGeom>
          <a:solidFill>
            <a:srgbClr val="FFF3D6"/>
          </a:solidFill>
          <a:ln/>
        </p:spPr>
      </p:sp>
      <p:sp>
        <p:nvSpPr>
          <p:cNvPr id="12" name="Text 10"/>
          <p:cNvSpPr/>
          <p:nvPr/>
        </p:nvSpPr>
        <p:spPr>
          <a:xfrm>
            <a:off x="8853011" y="2876550"/>
            <a:ext cx="38871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40 forty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53011" y="3333750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cuarenta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868275" y="2647950"/>
            <a:ext cx="3800475" cy="1200150"/>
          </a:xfrm>
          <a:prstGeom prst="roundRect">
            <a:avLst>
              <a:gd name="adj" fmla="val 19048"/>
            </a:avLst>
          </a:prstGeom>
          <a:solidFill>
            <a:srgbClr val="F1EAF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24936" y="2876550"/>
            <a:ext cx="38871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50 fifty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824936" y="3333750"/>
            <a:ext cx="388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cincuenta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2500" y="4152900"/>
            <a:ext cx="16383000" cy="809625"/>
          </a:xfrm>
          <a:prstGeom prst="roundRect">
            <a:avLst>
              <a:gd name="adj" fmla="val 28235"/>
            </a:avLst>
          </a:prstGeom>
          <a:solidFill>
            <a:srgbClr val="FFF9EF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4362450"/>
            <a:ext cx="172669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Truco: 21 = twenty-</a:t>
            </a:r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· 35 = thirty-</a:t>
            </a:r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five 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· 48 = forty-</a:t>
            </a:r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eight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How old are you? · ¿Cuántos años tienes?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59100" cy="1504950"/>
          </a:xfrm>
          <a:prstGeom prst="roundRect">
            <a:avLst>
              <a:gd name="adj" fmla="val 15190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3038475"/>
            <a:ext cx="91320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🎂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465784" y="3067050"/>
            <a:ext cx="40939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 am seven years old.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2465784" y="3552825"/>
            <a:ext cx="4093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Tengo siete años.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45720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Cambia el número por tu edad: I am eight / nine years old.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380708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00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YOU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Let's practice! · 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8592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el número en inglés: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2884438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09975"/>
            <a:ext cx="25137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 → ______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4446538" y="3514725"/>
            <a:ext cx="3041600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675138" y="3609975"/>
            <a:ext cx="26756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 → ______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7678638" y="3514725"/>
            <a:ext cx="3108127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7907238" y="3609975"/>
            <a:ext cx="27441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→ ______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0977265" y="3514725"/>
            <a:ext cx="3074194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5865" y="3609975"/>
            <a:ext cx="27092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45 → ______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52500" y="47339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625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tu edad en inglés: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 am ______ years old.»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998440"/>
            <a:ext cx="465832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131790"/>
            <a:ext cx="42265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FINISH · 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084290"/>
            <a:ext cx="16764000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Count from 1 to 10! How old are you?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592961"/>
            <a:ext cx="18021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¡Cuenta del 1 al 10! ¿Cuántos años tienes?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6535936"/>
            <a:ext cx="460325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707386"/>
            <a:ext cx="3979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Good job! · ¡Buen trabajo!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2026-08-02T00:18:07Z</dcterms:created>
  <dcterms:modified xsi:type="dcterms:W3CDTF">2026-08-02T00:18:07Z</dcterms:modified>
</cp:coreProperties>
</file>