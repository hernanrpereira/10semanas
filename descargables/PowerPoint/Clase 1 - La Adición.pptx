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En la tienda de Don Pepe hay 125 bombones y llegan 138 más. ¿Cómo sabemos cuántos hay ahora? Escucha 3 o 4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 con los niños. DBA 1 de Matemáticas: resolver problemas aditivos. Explica que hoy usarán el cuaderno, el tablero y la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niños copian este contenido en el cuaderno. Pulsa el botón del temporizador para dar 5 minutos. Mientras copian, circula por los puestos.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parte del copiado: la suma sin reagrupación. Recuerda en voz alta: unidades con unidades, decenas con decenas. 5 minutos con el temporizador.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Tercera parte: la suma llevando. Señala el 1 rojo que sube a la siguiente columna. Este es el corazón de la clase: dedícale tiempo en el tablero después del copiado.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parte del copiado: los 4 pasos. Léelos en coro con todo el grupo antes de iniciar el temporizador.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 en el cuaderno: 10 minutos. Circula y ayuda a quienes olvidan llevar. Al terminar, corrige las 4 sumas en el tablero con voluntarios. Respuestas: 557, 395, 579, 723. Problema: 393 libros.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 del objetivo. Pide respuestas a mano alzada: llevamos cuando la columna suma 10 o más. Cierra felicitando al grupo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970005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6" name="Shape 4"/>
          <p:cNvSpPr/>
          <p:nvPr/>
        </p:nvSpPr>
        <p:spPr>
          <a:xfrm>
            <a:off x="6631781" y="2757488"/>
            <a:ext cx="5024438" cy="69532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76200" dir="5400000">
              <a:srgbClr val="2222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4358" y="2909888"/>
            <a:ext cx="234352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MATEMÁTICA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95656" y="2909888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55971" y="2909888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225415" y="3795713"/>
            <a:ext cx="783717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474"/>
              </a:lnSpc>
              <a:buNone/>
            </a:pPr>
            <a:r>
              <a:rPr lang="en-US" sz="12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Adición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4754917" y="5662613"/>
            <a:ext cx="877801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Sumas de 3 dígitos: sin llevar y llevando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5238750" y="6577013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970005"/>
          </a:solidFill>
          <a:ln/>
        </p:spPr>
      </p:sp>
      <p:sp>
        <p:nvSpPr>
          <p:cNvPr id="13" name="Text 11"/>
          <p:cNvSpPr/>
          <p:nvPr/>
        </p:nvSpPr>
        <p:spPr>
          <a:xfrm>
            <a:off x="5200650" y="6577013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6381750" y="6577013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7F5D00"/>
          </a:solidFill>
          <a:ln/>
        </p:spPr>
      </p:sp>
      <p:sp>
        <p:nvSpPr>
          <p:cNvPr id="15" name="Text 13"/>
          <p:cNvSpPr/>
          <p:nvPr/>
        </p:nvSpPr>
        <p:spPr>
          <a:xfrm>
            <a:off x="6343650" y="6577013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7524750" y="6577013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6EA11E"/>
          </a:solidFill>
          <a:ln/>
        </p:spPr>
      </p:sp>
      <p:sp>
        <p:nvSpPr>
          <p:cNvPr id="17" name="Text 15"/>
          <p:cNvSpPr/>
          <p:nvPr/>
        </p:nvSpPr>
        <p:spPr>
          <a:xfrm>
            <a:off x="7486650" y="6577013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8667750" y="6577013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181A1B"/>
          </a:solidFill>
          <a:ln/>
        </p:spPr>
      </p:sp>
      <p:sp>
        <p:nvSpPr>
          <p:cNvPr id="19" name="Text 17"/>
          <p:cNvSpPr/>
          <p:nvPr/>
        </p:nvSpPr>
        <p:spPr>
          <a:xfrm>
            <a:off x="8629650" y="6577013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+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9810750" y="6577013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14689D"/>
          </a:solidFill>
          <a:ln/>
        </p:spPr>
      </p:sp>
      <p:sp>
        <p:nvSpPr>
          <p:cNvPr id="21" name="Text 19"/>
          <p:cNvSpPr/>
          <p:nvPr/>
        </p:nvSpPr>
        <p:spPr>
          <a:xfrm>
            <a:off x="9772650" y="6577013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10953750" y="6577013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553D76"/>
          </a:solidFill>
          <a:ln/>
        </p:spPr>
      </p:sp>
      <p:sp>
        <p:nvSpPr>
          <p:cNvPr id="23" name="Text 21"/>
          <p:cNvSpPr/>
          <p:nvPr/>
        </p:nvSpPr>
        <p:spPr>
          <a:xfrm>
            <a:off x="10915650" y="6577013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12096750" y="6577013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970005"/>
          </a:solidFill>
          <a:ln/>
        </p:spPr>
      </p:sp>
      <p:sp>
        <p:nvSpPr>
          <p:cNvPr id="25" name="Text 23"/>
          <p:cNvSpPr/>
          <p:nvPr/>
        </p:nvSpPr>
        <p:spPr>
          <a:xfrm>
            <a:off x="12058650" y="6577013"/>
            <a:ext cx="10287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802969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Sumar números de 3 dígitos </a:t>
            </a:r>
            <a:pPr algn="l" indent="0" marL="0"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sin reagrupar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897250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Sumar </a:t>
            </a:r>
            <a:pPr algn="l" indent="0" marL="0"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llevando </a:t>
            </a:r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cuando una columna pasa de 9.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002353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Resolver problemas de la vida diaria usando la suma.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matemática, lápiz y muchas ganas de aprender.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adición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52500" y="302895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15277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adición o suma es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unir o agrupar cantidades </a:t>
            </a:r>
            <a:pPr algn="l" indent="0" marL="0">
              <a:lnSpc>
                <a:spcPct val="111111"/>
              </a:lnSpc>
              <a:buNone/>
            </a:pPr>
            <a:r>
              <a:rPr lang="en-US" sz="30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saber cuánto hay en total.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" y="4229100"/>
            <a:ext cx="1465213" cy="952500"/>
          </a:xfrm>
          <a:prstGeom prst="roundRect">
            <a:avLst>
              <a:gd name="adj" fmla="val 20000"/>
            </a:avLst>
          </a:prstGeom>
          <a:solidFill>
            <a:srgbClr val="7F5D00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381500"/>
            <a:ext cx="85561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125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79239" y="5295900"/>
            <a:ext cx="16117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sumando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646313" y="4371975"/>
            <a:ext cx="38472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+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3183434" y="4229100"/>
            <a:ext cx="1503015" cy="952500"/>
          </a:xfrm>
          <a:prstGeom prst="roundRect">
            <a:avLst>
              <a:gd name="adj" fmla="val 20000"/>
            </a:avLst>
          </a:prstGeom>
          <a:solidFill>
            <a:srgbClr val="7F5D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88234" y="4381500"/>
            <a:ext cx="89341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132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108283" y="5295900"/>
            <a:ext cx="16533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sumando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915049" y="4371975"/>
            <a:ext cx="3518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=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5419279" y="4229100"/>
            <a:ext cx="1545134" cy="952500"/>
          </a:xfrm>
          <a:prstGeom prst="roundRect">
            <a:avLst>
              <a:gd name="adj" fmla="val 20000"/>
            </a:avLst>
          </a:prstGeom>
          <a:solidFill>
            <a:srgbClr val="6EA11E"/>
          </a:solidFill>
          <a:ln/>
        </p:spPr>
      </p:sp>
      <p:sp>
        <p:nvSpPr>
          <p:cNvPr id="16" name="Text 14"/>
          <p:cNvSpPr/>
          <p:nvPr/>
        </p:nvSpPr>
        <p:spPr>
          <a:xfrm>
            <a:off x="5724079" y="4381500"/>
            <a:ext cx="93553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257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342022" y="5295900"/>
            <a:ext cx="16996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suma o total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9AA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Suma sin reagrupación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3824288"/>
            <a:ext cx="9391650" cy="1962150"/>
          </a:xfrm>
          <a:prstGeom prst="roundRect">
            <a:avLst>
              <a:gd name="adj" fmla="val 970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3948112"/>
            <a:ext cx="882967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Ordeno los números en columnas: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unidades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unidades,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decenas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decenas y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centenas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centenas. Sumo de derecha a izquierda.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1010900" y="2857500"/>
            <a:ext cx="4419600" cy="3895725"/>
          </a:xfrm>
          <a:prstGeom prst="roundRect">
            <a:avLst>
              <a:gd name="adj" fmla="val 6846"/>
            </a:avLst>
          </a:prstGeom>
          <a:solidFill>
            <a:srgbClr val="3D2600"/>
          </a:solidFill>
          <a:ln/>
        </p:spPr>
      </p:sp>
      <p:sp>
        <p:nvSpPr>
          <p:cNvPr id="8" name="Shape 6"/>
          <p:cNvSpPr/>
          <p:nvPr/>
        </p:nvSpPr>
        <p:spPr>
          <a:xfrm>
            <a:off x="12477750" y="3200400"/>
            <a:ext cx="571500" cy="5715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9" name="Text 7"/>
          <p:cNvSpPr/>
          <p:nvPr/>
        </p:nvSpPr>
        <p:spPr>
          <a:xfrm>
            <a:off x="12439650" y="3200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3392150" y="3200400"/>
            <a:ext cx="571500" cy="5715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11" name="Text 9"/>
          <p:cNvSpPr/>
          <p:nvPr/>
        </p:nvSpPr>
        <p:spPr>
          <a:xfrm>
            <a:off x="13354050" y="3200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4306550" y="3200400"/>
            <a:ext cx="571500" cy="571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3" name="Text 11"/>
          <p:cNvSpPr/>
          <p:nvPr/>
        </p:nvSpPr>
        <p:spPr>
          <a:xfrm>
            <a:off x="14268450" y="3200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587585" y="3848100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561070" y="3848100"/>
            <a:ext cx="30971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4417873" y="3848100"/>
            <a:ext cx="42490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1694765" y="4657725"/>
            <a:ext cx="38472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+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2646670" y="4657725"/>
            <a:ext cx="30971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3503473" y="4657725"/>
            <a:ext cx="42490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4424868" y="4657725"/>
            <a:ext cx="41091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11430000" y="5505450"/>
            <a:ext cx="3581400" cy="57150"/>
          </a:xfrm>
          <a:prstGeom prst="rect">
            <a:avLst/>
          </a:prstGeom>
          <a:solidFill>
            <a:srgbClr val="7B7265"/>
          </a:solidFill>
          <a:ln/>
        </p:spPr>
      </p:sp>
      <p:sp>
        <p:nvSpPr>
          <p:cNvPr id="22" name="Text 20"/>
          <p:cNvSpPr/>
          <p:nvPr/>
        </p:nvSpPr>
        <p:spPr>
          <a:xfrm>
            <a:off x="12589073" y="5676900"/>
            <a:ext cx="42490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3510468" y="5676900"/>
            <a:ext cx="41091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4429780" y="5676900"/>
            <a:ext cx="40124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7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Suma con reagrupación (llevando)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4319588"/>
            <a:ext cx="9391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15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4443413"/>
            <a:ext cx="88296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Cuando una columna suma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 o más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escribo las unidades y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llevo 1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la siguiente columna.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1010900" y="2857500"/>
            <a:ext cx="4419600" cy="4314825"/>
          </a:xfrm>
          <a:prstGeom prst="roundRect">
            <a:avLst>
              <a:gd name="adj" fmla="val 6181"/>
            </a:avLst>
          </a:prstGeom>
          <a:solidFill>
            <a:srgbClr val="3D2600"/>
          </a:solidFill>
          <a:ln/>
        </p:spPr>
      </p:sp>
      <p:sp>
        <p:nvSpPr>
          <p:cNvPr id="8" name="Shape 6"/>
          <p:cNvSpPr/>
          <p:nvPr/>
        </p:nvSpPr>
        <p:spPr>
          <a:xfrm>
            <a:off x="12534900" y="3143250"/>
            <a:ext cx="457200" cy="4572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9" name="Text 7"/>
          <p:cNvSpPr/>
          <p:nvPr/>
        </p:nvSpPr>
        <p:spPr>
          <a:xfrm>
            <a:off x="12496800" y="31432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3449300" y="3143250"/>
            <a:ext cx="457200" cy="4572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11" name="Text 9"/>
          <p:cNvSpPr/>
          <p:nvPr/>
        </p:nvSpPr>
        <p:spPr>
          <a:xfrm>
            <a:off x="13411200" y="31432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477750" y="3676650"/>
            <a:ext cx="571500" cy="5715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13" name="Text 11"/>
          <p:cNvSpPr/>
          <p:nvPr/>
        </p:nvSpPr>
        <p:spPr>
          <a:xfrm>
            <a:off x="12439650" y="3676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3392150" y="3676650"/>
            <a:ext cx="571500" cy="5715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15" name="Text 13"/>
          <p:cNvSpPr/>
          <p:nvPr/>
        </p:nvSpPr>
        <p:spPr>
          <a:xfrm>
            <a:off x="13354050" y="3676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4306550" y="3676650"/>
            <a:ext cx="571500" cy="5715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7" name="Text 15"/>
          <p:cNvSpPr/>
          <p:nvPr/>
        </p:nvSpPr>
        <p:spPr>
          <a:xfrm>
            <a:off x="14268450" y="3676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587585" y="4324350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3517463" y="4324350"/>
            <a:ext cx="39692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4425464" y="4324350"/>
            <a:ext cx="40972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8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1694765" y="5133975"/>
            <a:ext cx="38472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276B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+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2646670" y="5133975"/>
            <a:ext cx="30971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3525054" y="5133975"/>
            <a:ext cx="38174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4424868" y="5133975"/>
            <a:ext cx="41091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  <p:sp>
        <p:nvSpPr>
          <p:cNvPr id="25" name="Shape 23"/>
          <p:cNvSpPr/>
          <p:nvPr/>
        </p:nvSpPr>
        <p:spPr>
          <a:xfrm>
            <a:off x="11430000" y="5981700"/>
            <a:ext cx="3581400" cy="57150"/>
          </a:xfrm>
          <a:prstGeom prst="rect">
            <a:avLst/>
          </a:prstGeom>
          <a:solidFill>
            <a:srgbClr val="7B7265"/>
          </a:solidFill>
          <a:ln/>
        </p:spPr>
      </p:sp>
      <p:sp>
        <p:nvSpPr>
          <p:cNvPr id="26" name="Text 24"/>
          <p:cNvSpPr/>
          <p:nvPr/>
        </p:nvSpPr>
        <p:spPr>
          <a:xfrm>
            <a:off x="12596068" y="6153150"/>
            <a:ext cx="41091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13501985" y="6153150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4416385" y="6153150"/>
            <a:ext cx="42803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952500" y="7515225"/>
            <a:ext cx="180213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276B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Mira: 8 + 4 = 12 → escribo el 2 y llevo 1 a las decenas.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4689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A3DC4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Pasos para sumar llevando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857500"/>
            <a:ext cx="647700" cy="647700"/>
          </a:xfrm>
          <a:prstGeom prst="ellipse">
            <a:avLst/>
          </a:prstGeom>
          <a:solidFill>
            <a:srgbClr val="97000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57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47850" y="2947988"/>
            <a:ext cx="771422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Ordeno los números en columnas: U, D y C.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3714750"/>
            <a:ext cx="647700" cy="647700"/>
          </a:xfrm>
          <a:prstGeom prst="ellipse">
            <a:avLst/>
          </a:prstGeom>
          <a:solidFill>
            <a:srgbClr val="7F5D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147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47850" y="3805237"/>
            <a:ext cx="1016530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Sumo las unidades. Si da 10 o más, llevo 1 a las decenas.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4572000"/>
            <a:ext cx="647700" cy="647700"/>
          </a:xfrm>
          <a:prstGeom prst="ellipse">
            <a:avLst/>
          </a:prstGeom>
          <a:solidFill>
            <a:srgbClr val="14689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720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47850" y="4662488"/>
            <a:ext cx="1304874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Sumo las decenas con lo que llevé. Si da 10 o más, llevo 1 a las centenas.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52500" y="5429250"/>
            <a:ext cx="647700" cy="647700"/>
          </a:xfrm>
          <a:prstGeom prst="ellipse">
            <a:avLst/>
          </a:prstGeom>
          <a:solidFill>
            <a:srgbClr val="6EA11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42925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847850" y="5519738"/>
            <a:ext cx="653632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Sumo las centenas y escribo el total.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970005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52500" y="293370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7277" y="3200400"/>
            <a:ext cx="3122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585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77277" y="3629025"/>
            <a:ext cx="312229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342 + 215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4591050" y="293370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5828" y="3200400"/>
            <a:ext cx="3122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715828" y="3629025"/>
            <a:ext cx="312229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257 + 138</a:t>
            </a:r>
            <a:endParaRPr lang="en-US" sz="3900" dirty="0"/>
          </a:p>
        </p:txBody>
      </p:sp>
      <p:sp>
        <p:nvSpPr>
          <p:cNvPr id="11" name="Shape 9"/>
          <p:cNvSpPr/>
          <p:nvPr/>
        </p:nvSpPr>
        <p:spPr>
          <a:xfrm>
            <a:off x="8229600" y="293370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54378" y="3200400"/>
            <a:ext cx="3122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49AAE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54378" y="3629025"/>
            <a:ext cx="312229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123 + 456</a:t>
            </a:r>
            <a:endParaRPr lang="en-US" sz="3900" dirty="0"/>
          </a:p>
        </p:txBody>
      </p:sp>
      <p:sp>
        <p:nvSpPr>
          <p:cNvPr id="14" name="Shape 12"/>
          <p:cNvSpPr/>
          <p:nvPr/>
        </p:nvSpPr>
        <p:spPr>
          <a:xfrm>
            <a:off x="11868150" y="2933700"/>
            <a:ext cx="3371850" cy="1562100"/>
          </a:xfrm>
          <a:prstGeom prst="roundRect">
            <a:avLst>
              <a:gd name="adj" fmla="val 14634"/>
            </a:avLst>
          </a:prstGeom>
          <a:solidFill>
            <a:srgbClr val="181A1B"/>
          </a:solidFill>
          <a:ln/>
          <a:effectLst>
            <a:outerShdw sx="100000" sy="100000" kx="0" ky="0" algn="bl" rotWithShape="0" blurRad="101600" dist="57150" dir="5400000">
              <a:srgbClr val="2222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992928" y="3200400"/>
            <a:ext cx="31222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A3DC4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992928" y="3629025"/>
            <a:ext cx="312229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C7C2B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469 + 254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952500" y="4876800"/>
            <a:ext cx="15125700" cy="1485900"/>
          </a:xfrm>
          <a:prstGeom prst="roundRect">
            <a:avLst>
              <a:gd name="adj" fmla="val 17949"/>
            </a:avLst>
          </a:prstGeom>
          <a:solidFill>
            <a:srgbClr val="553D7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181600"/>
            <a:ext cx="1471612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Problema: En la biblioteca hay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215 cuentos 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</a:t>
            </a:r>
            <a:pPr algn="l" indent="0" marL="0">
              <a:buNone/>
            </a:pPr>
            <a:r>
              <a:rPr lang="en-US" sz="2550" b="1" dirty="0">
                <a:solidFill>
                  <a:srgbClr val="FFCC4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178 libros de ciencias </a:t>
            </a:r>
            <a:pPr algn="l" indent="0" marL="0">
              <a:buNone/>
            </a:pPr>
            <a:r>
              <a:rPr lang="en-US" sz="2550" b="1" dirty="0">
                <a:solidFill>
                  <a:srgbClr val="E8E6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¿Cuántos libros hay en total?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68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305050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7F5D00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438400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C7C2B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390900"/>
            <a:ext cx="14716125" cy="2447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13"/>
              </a:lnSpc>
              <a:buNone/>
            </a:pPr>
            <a:r>
              <a:rPr lang="en-US" sz="8250" b="1" dirty="0">
                <a:solidFill>
                  <a:srgbClr val="E8E6E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¿Cuándo debemos llevar al sumar?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952500" y="6257925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D0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 con tus palabras.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229475"/>
            <a:ext cx="5759500" cy="752475"/>
          </a:xfrm>
          <a:prstGeom prst="roundRect">
            <a:avLst>
              <a:gd name="adj" fmla="val 50000"/>
            </a:avLst>
          </a:prstGeom>
          <a:solidFill>
            <a:srgbClr val="181A1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400925"/>
            <a:ext cx="517028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85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sumaste como un campeón!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2026-07-21T11:59:38Z</dcterms:created>
  <dcterms:modified xsi:type="dcterms:W3CDTF">2026-07-21T11:59:38Z</dcterms:modified>
</cp:coreProperties>
</file>