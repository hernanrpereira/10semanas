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 con energía. Pregunta detonadora: ¿cómo crees que vivían las personas antes de la bombilla o del teléfono? ¿Quién inventa las cosas nuevas? Escucha ideas antes de avanzar.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los objetivos. Guía 30: Naturaleza y evolución de la tecnología. Los inventos cambian nuestra 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es un invento y un inventor.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Inventos que cambiaron el mundo.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rueda: el invento más antiguo. Del pasado al presente.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inventos mejoran la vida. Temporizador de 5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Práctica individual: 10 minutos. Los niños relacionan invento con su uso e imaginan un invento. Corrección compartiendo respuestas.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 de verificación: nombra un invento y para qué sirve. ¿Qué inventarías tú? Felicita y anuncia la ficha de evaluación.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43000" y="-1143000"/>
            <a:ext cx="3619500" cy="36195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3" name="Shape 1"/>
          <p:cNvSpPr/>
          <p:nvPr/>
        </p:nvSpPr>
        <p:spPr>
          <a:xfrm>
            <a:off x="15240000" y="7620000"/>
            <a:ext cx="4000500" cy="4000500"/>
          </a:xfrm>
          <a:prstGeom prst="ellipse">
            <a:avLst/>
          </a:prstGeom>
          <a:solidFill>
            <a:srgbClr val="1982C4"/>
          </a:solidFill>
          <a:ln/>
        </p:spPr>
      </p:sp>
      <p:sp>
        <p:nvSpPr>
          <p:cNvPr id="4" name="Shape 2"/>
          <p:cNvSpPr/>
          <p:nvPr/>
        </p:nvSpPr>
        <p:spPr>
          <a:xfrm rot="1080000">
            <a:off x="15049500" y="1143000"/>
            <a:ext cx="1143001" cy="1143001"/>
          </a:xfrm>
          <a:prstGeom prst="roundRect">
            <a:avLst>
              <a:gd name="adj" fmla="val 23333"/>
            </a:avLst>
          </a:prstGeom>
          <a:solidFill>
            <a:srgbClr val="FF595E"/>
          </a:solidFill>
          <a:ln/>
        </p:spPr>
      </p:sp>
      <p:sp>
        <p:nvSpPr>
          <p:cNvPr id="5" name="Shape 3"/>
          <p:cNvSpPr/>
          <p:nvPr/>
        </p:nvSpPr>
        <p:spPr>
          <a:xfrm>
            <a:off x="1905000" y="7715250"/>
            <a:ext cx="857250" cy="85725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6" name="Shape 4"/>
          <p:cNvSpPr/>
          <p:nvPr/>
        </p:nvSpPr>
        <p:spPr>
          <a:xfrm>
            <a:off x="6646218" y="2910780"/>
            <a:ext cx="4995416" cy="69532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76200" dir="5400000">
              <a:srgbClr val="2A2A4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60245" y="3063180"/>
            <a:ext cx="231159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TECNOLOGÍA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281071" y="3063180"/>
            <a:ext cx="22607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•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541386" y="3063180"/>
            <a:ext cx="176120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150" kern="0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GRADO 2°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4287686" y="3949005"/>
            <a:ext cx="9712479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154"/>
              </a:lnSpc>
              <a:buNone/>
            </a:pPr>
            <a:r>
              <a:rPr lang="en-US" sz="7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Inventos e Inventores</a:t>
            </a:r>
            <a:endParaRPr lang="en-US" sz="7200" dirty="0"/>
          </a:p>
        </p:txBody>
      </p:sp>
      <p:sp>
        <p:nvSpPr>
          <p:cNvPr id="11" name="Text 9"/>
          <p:cNvSpPr/>
          <p:nvPr/>
        </p:nvSpPr>
        <p:spPr>
          <a:xfrm>
            <a:off x="5596719" y="5251996"/>
            <a:ext cx="709441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1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Ideas que cambiaron el mundo 💡</a:t>
            </a:r>
            <a:endParaRPr lang="en-US" sz="3150" dirty="0"/>
          </a:p>
        </p:txBody>
      </p:sp>
      <p:sp>
        <p:nvSpPr>
          <p:cNvPr id="12" name="Shape 10"/>
          <p:cNvSpPr/>
          <p:nvPr/>
        </p:nvSpPr>
        <p:spPr>
          <a:xfrm>
            <a:off x="6032004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22504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💡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640389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30889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📞</a:t>
            </a:r>
            <a:endParaRPr lang="en-US" sz="5400" dirty="0"/>
          </a:p>
        </p:txBody>
      </p:sp>
      <p:sp>
        <p:nvSpPr>
          <p:cNvPr id="16" name="Shape 14"/>
          <p:cNvSpPr/>
          <p:nvPr/>
        </p:nvSpPr>
        <p:spPr>
          <a:xfrm>
            <a:off x="9248775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39275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🚗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857161" y="6166396"/>
            <a:ext cx="1398836" cy="1209675"/>
          </a:xfrm>
          <a:prstGeom prst="roundRect">
            <a:avLst>
              <a:gd name="adj" fmla="val 188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1047661" y="6280696"/>
            <a:ext cx="1017836" cy="1019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54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✈️</a:t>
            </a:r>
            <a:endParaRPr lang="en-US" sz="5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952500"/>
            <a:ext cx="18021300" cy="962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aprenderemos hoy?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952500" y="2371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333500" y="2638425"/>
            <a:ext cx="723900" cy="723900"/>
          </a:xfrm>
          <a:prstGeom prst="ellipse">
            <a:avLst/>
          </a:prstGeom>
          <a:solidFill>
            <a:srgbClr val="FF595E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38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2324100" y="2757488"/>
            <a:ext cx="8878699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Saber qué es un </a:t>
            </a:r>
            <a:pPr algn="l" indent="0" marL="0"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invento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quién es un </a:t>
            </a:r>
            <a:pPr algn="l" indent="0" marL="0">
              <a:buNone/>
            </a:pPr>
            <a:r>
              <a:rPr lang="en-US" sz="2850" b="1" dirty="0">
                <a:solidFill>
                  <a:srgbClr val="8AC92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inventor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3895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33500" y="4162425"/>
            <a:ext cx="723900" cy="723900"/>
          </a:xfrm>
          <a:prstGeom prst="ellipse">
            <a:avLst/>
          </a:prstGeom>
          <a:solidFill>
            <a:srgbClr val="FFCA3A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4162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2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324100" y="4281488"/>
            <a:ext cx="9103147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Conocer </a:t>
            </a:r>
            <a:pPr algn="l" indent="0" marL="0">
              <a:buNone/>
            </a:pPr>
            <a:r>
              <a:rPr lang="en-US" sz="28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inventos importantes </a:t>
            </a:r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y para qué sirven.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52500" y="5419725"/>
            <a:ext cx="14287500" cy="1257300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333500" y="5686425"/>
            <a:ext cx="723900" cy="723900"/>
          </a:xfrm>
          <a:prstGeom prst="ellipse">
            <a:avLst/>
          </a:prstGeom>
          <a:solidFill>
            <a:srgbClr val="8AC926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86425"/>
            <a:ext cx="800100" cy="762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2324100" y="5805488"/>
            <a:ext cx="940159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Entender cómo los inventos mejoran nuestra vida.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952500" y="7172325"/>
            <a:ext cx="180213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6A4C93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Necesitas: cuaderno de tecnología, lápiz y tu imaginación.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1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7165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¿Qué es un invento?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838450"/>
            <a:ext cx="15106650" cy="1390650"/>
          </a:xfrm>
          <a:prstGeom prst="roundRect">
            <a:avLst>
              <a:gd name="adj" fmla="val 13699"/>
            </a:avLst>
          </a:prstGeom>
          <a:blipFill>
            <a:blip r:embed="rId1"/>
            <a:tile tx="0" ty="0" sx="100000" sy="100000" flip="none" algn="tl"/>
          </a:blipFill>
          <a:ln w="28575">
            <a:solidFill>
              <a:srgbClr val="BFDC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62275"/>
            <a:ext cx="14716125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invento es una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1982C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cosa nueva </a:t>
            </a:r>
            <a:pPr algn="l" indent="0" marL="0">
              <a:lnSpc>
                <a:spcPct val="117647"/>
              </a:lnSpc>
              <a:buNone/>
            </a:pPr>
            <a:r>
              <a:rPr lang="en-US" sz="28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alguien crea para resolver un problema o hacer la vida más fácil.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2500" y="4610100"/>
            <a:ext cx="15049500" cy="933450"/>
          </a:xfrm>
          <a:prstGeom prst="roundRect">
            <a:avLst>
              <a:gd name="adj" fmla="val 24490"/>
            </a:avLst>
          </a:prstGeom>
          <a:solidFill>
            <a:srgbClr val="FFF3D6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4857750"/>
            <a:ext cx="157162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</a:t>
            </a:r>
            <a:pPr algn="l" indent="0" marL="0">
              <a:buNone/>
            </a:pPr>
            <a:r>
              <a:rPr lang="en-US" sz="2550" b="1" dirty="0">
                <a:solidFill>
                  <a:srgbClr val="C89B1C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inventor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 la persona que piensa e imagina esos inventos. ¡Todos podemos inventar!</a:t>
            </a:r>
            <a:endParaRPr lang="en-US" sz="2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66675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0010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2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562100"/>
            <a:ext cx="1802130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9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Inventos que cambiaron el mundo</a:t>
            </a:r>
            <a:endParaRPr lang="en-US" sz="3900" dirty="0"/>
          </a:p>
        </p:txBody>
      </p:sp>
      <p:sp>
        <p:nvSpPr>
          <p:cNvPr id="5" name="Shape 3"/>
          <p:cNvSpPr/>
          <p:nvPr/>
        </p:nvSpPr>
        <p:spPr>
          <a:xfrm>
            <a:off x="952500" y="2428875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FFF3D6"/>
          </a:solidFill>
          <a:ln/>
        </p:spPr>
      </p:sp>
      <p:sp>
        <p:nvSpPr>
          <p:cNvPr id="6" name="Text 4"/>
          <p:cNvSpPr/>
          <p:nvPr/>
        </p:nvSpPr>
        <p:spPr>
          <a:xfrm>
            <a:off x="909876" y="2657475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💡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909876" y="3495675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C89B1C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bombilla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09876" y="3867150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Edison · luz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29188" y="2428875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E3F0FA"/>
          </a:solidFill>
          <a:ln/>
        </p:spPr>
      </p:sp>
      <p:sp>
        <p:nvSpPr>
          <p:cNvPr id="10" name="Text 8"/>
          <p:cNvSpPr/>
          <p:nvPr/>
        </p:nvSpPr>
        <p:spPr>
          <a:xfrm>
            <a:off x="4886563" y="2657475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📞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86563" y="3495675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teléfono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886563" y="3867150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Bell · hablar lejos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905875" y="2428875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FDE3E4"/>
          </a:solidFill>
          <a:ln/>
        </p:spPr>
      </p:sp>
      <p:sp>
        <p:nvSpPr>
          <p:cNvPr id="14" name="Text 12"/>
          <p:cNvSpPr/>
          <p:nvPr/>
        </p:nvSpPr>
        <p:spPr>
          <a:xfrm>
            <a:off x="8863251" y="2657475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✈️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863251" y="3495675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avión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8863251" y="3867150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Hnos. Wright · volar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2882563" y="2428875"/>
            <a:ext cx="3786188" cy="1924050"/>
          </a:xfrm>
          <a:prstGeom prst="roundRect">
            <a:avLst>
              <a:gd name="adj" fmla="val 11881"/>
            </a:avLst>
          </a:prstGeom>
          <a:solidFill>
            <a:srgbClr val="E9F5D8"/>
          </a:solidFill>
          <a:ln/>
        </p:spPr>
      </p:sp>
      <p:sp>
        <p:nvSpPr>
          <p:cNvPr id="18" name="Text 16"/>
          <p:cNvSpPr/>
          <p:nvPr/>
        </p:nvSpPr>
        <p:spPr>
          <a:xfrm>
            <a:off x="12839938" y="2657475"/>
            <a:ext cx="3871436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💻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12839938" y="3495675"/>
            <a:ext cx="387143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El computador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2839938" y="3867150"/>
            <a:ext cx="3871436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trabajar y aprender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3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6954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La rueda: ¡el más antiguo! ⚙️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05100"/>
            <a:ext cx="15582900" cy="1057275"/>
          </a:xfrm>
          <a:prstGeom prst="roundRect">
            <a:avLst>
              <a:gd name="adj" fmla="val 21622"/>
            </a:avLst>
          </a:prstGeom>
          <a:solidFill>
            <a:srgbClr val="FFF9EF"/>
          </a:solidFill>
          <a:ln w="28575">
            <a:solidFill>
              <a:srgbClr val="FFC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62075" y="2981325"/>
            <a:ext cx="1624012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870"/>
              </a:lnSpc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Hace mucho tiempo se inventó la </a:t>
            </a:r>
            <a:pPr algn="l" indent="0" marL="0">
              <a:lnSpc>
                <a:spcPct val="110870"/>
              </a:lnSpc>
              <a:buNone/>
            </a:pPr>
            <a:r>
              <a:rPr lang="en-US" sz="2550" b="1" dirty="0">
                <a:solidFill>
                  <a:srgbClr val="6FA31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rueda</a:t>
            </a:r>
            <a:pPr algn="l" indent="0" marL="0">
              <a:lnSpc>
                <a:spcPct val="110870"/>
              </a:lnSpc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 Gracias a ella hoy tenemos carros, bicicletas y trenes.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6479084" y="4067175"/>
            <a:ext cx="80858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⚙️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440067" y="4210050"/>
            <a:ext cx="419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011567" y="4067175"/>
            <a:ext cx="80858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🛞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8972550" y="4210050"/>
            <a:ext cx="419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544050" y="4067175"/>
            <a:ext cx="80858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🚲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0505033" y="4210050"/>
            <a:ext cx="4191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→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1076533" y="4067175"/>
            <a:ext cx="808583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🚗</a:t>
            </a:r>
            <a:endParaRPr lang="en-US" sz="4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5891064" cy="628650"/>
          </a:xfrm>
          <a:prstGeom prst="roundRect">
            <a:avLst>
              <a:gd name="adj" fmla="val 30303"/>
            </a:avLst>
          </a:prstGeom>
          <a:solidFill>
            <a:srgbClr val="1982C4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5496296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ESCRIBE EN TU CUADERNO · PARTE 4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33550"/>
            <a:ext cx="180213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6A4C93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Los inventos nos ayudan 💡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952500" y="278130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6" name="Text 4"/>
          <p:cNvSpPr/>
          <p:nvPr/>
        </p:nvSpPr>
        <p:spPr>
          <a:xfrm>
            <a:off x="1257300" y="295275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💡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2042368" y="3033713"/>
            <a:ext cx="551280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 bombilla nos da </a:t>
            </a:r>
            <a:pPr algn="l" indent="0" marL="0">
              <a:buNone/>
            </a:pPr>
            <a:r>
              <a:rPr lang="en-US" sz="2550" b="1" dirty="0">
                <a:solidFill>
                  <a:srgbClr val="FF595E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luz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de noche.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" y="3895725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9" name="Text 7"/>
          <p:cNvSpPr/>
          <p:nvPr/>
        </p:nvSpPr>
        <p:spPr>
          <a:xfrm>
            <a:off x="1257300" y="4067175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📞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042368" y="4148137"/>
            <a:ext cx="8022982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El teléfono nos deja </a:t>
            </a:r>
            <a:pPr algn="l" indent="0" marL="0">
              <a:buNone/>
            </a:pPr>
            <a:r>
              <a:rPr lang="en-US" sz="255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hablar 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con quien está lejos.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5010150"/>
            <a:ext cx="14763750" cy="942975"/>
          </a:xfrm>
          <a:prstGeom prst="roundRect">
            <a:avLst>
              <a:gd name="adj" fmla="val 22222"/>
            </a:avLst>
          </a:prstGeom>
          <a:solidFill>
            <a:srgbClr val="FFF9EF"/>
          </a:solidFill>
          <a:ln/>
        </p:spPr>
      </p:sp>
      <p:sp>
        <p:nvSpPr>
          <p:cNvPr id="12" name="Text 10"/>
          <p:cNvSpPr/>
          <p:nvPr/>
        </p:nvSpPr>
        <p:spPr>
          <a:xfrm>
            <a:off x="1257300" y="5181600"/>
            <a:ext cx="651718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💊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2042368" y="5262563"/>
            <a:ext cx="5404589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Las vacunas nos cuidan la </a:t>
            </a:r>
            <a:pPr algn="l" indent="0" marL="0">
              <a:buNone/>
            </a:pPr>
            <a:r>
              <a:rPr lang="en-US" sz="2550" b="1" dirty="0">
                <a:solidFill>
                  <a:srgbClr val="8AC926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salud</a:t>
            </a:r>
            <a:pPr algn="l" indent="0" marL="0">
              <a:buNone/>
            </a:pPr>
            <a:r>
              <a:rPr lang="en-US" sz="2550" b="1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62000"/>
            <a:ext cx="6488906" cy="628650"/>
          </a:xfrm>
          <a:prstGeom prst="roundRect">
            <a:avLst>
              <a:gd name="adj" fmla="val 30303"/>
            </a:avLst>
          </a:prstGeom>
          <a:solidFill>
            <a:srgbClr val="FF595E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895350"/>
            <a:ext cx="611207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AHORA TÚ · RESUELVE EN TU CUADERNO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1714500"/>
            <a:ext cx="1802130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¡A inventar!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2724150"/>
            <a:ext cx="16268700" cy="209550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57150" dir="5400000">
              <a:srgbClr val="2A2A4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299085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595E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1. Escribe para qué sirve cada invento: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680543" y="3514725"/>
            <a:ext cx="123973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💡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680543" y="4257675"/>
            <a:ext cx="1239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538168" y="3514725"/>
            <a:ext cx="123973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📞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538168" y="4257675"/>
            <a:ext cx="1239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395793" y="3514725"/>
            <a:ext cx="123973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✈️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0395793" y="4257675"/>
            <a:ext cx="1239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4253418" y="3514725"/>
            <a:ext cx="123973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🛞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14253418" y="4257675"/>
            <a:ext cx="123973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2A2A40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______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52500" y="5143500"/>
            <a:ext cx="16268700" cy="847725"/>
          </a:xfrm>
          <a:prstGeom prst="roundRect">
            <a:avLst>
              <a:gd name="adj" fmla="val 31461"/>
            </a:avLst>
          </a:prstGeom>
          <a:solidFill>
            <a:srgbClr val="6A4C93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372100"/>
            <a:ext cx="1697355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2. Imagina y dibuja un </a:t>
            </a:r>
            <a:pPr algn="l" indent="0" marL="0">
              <a:buNone/>
            </a:pPr>
            <a:r>
              <a:rPr lang="en-US" sz="2250" b="1" dirty="0">
                <a:solidFill>
                  <a:srgbClr val="FFCA3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invento tuyo </a:t>
            </a:r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que ayude a las personas.</a:t>
            </a:r>
            <a:endParaRPr lang="en-US" sz="2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82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502247"/>
            <a:ext cx="2960340" cy="628650"/>
          </a:xfrm>
          <a:prstGeom prst="roundRect">
            <a:avLst>
              <a:gd name="adj" fmla="val 30303"/>
            </a:avLst>
          </a:prstGeom>
          <a:solidFill>
            <a:srgbClr val="FFCA3A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2635597"/>
            <a:ext cx="24776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75" kern="0" dirty="0">
                <a:solidFill>
                  <a:srgbClr val="2A2A4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PARA TERMINAR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52500" y="3588097"/>
            <a:ext cx="15697200" cy="2053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464"/>
              </a:lnSpc>
              <a:buNone/>
            </a:pPr>
            <a:r>
              <a:rPr lang="en-US" sz="6900" b="1" dirty="0">
                <a:solidFill>
                  <a:srgbClr val="FFFFFF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Nombra un invento y para qué sirve. ¿Qué inventarías tú?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952500" y="6060728"/>
            <a:ext cx="180213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BFDCF2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Levanta la mano y cuéntanos.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52500" y="7032278"/>
            <a:ext cx="7920782" cy="75247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7203728"/>
            <a:ext cx="739640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982C4"/>
                </a:solidFill>
                <a:latin typeface="Fredoka" pitchFamily="34" charset="0"/>
                <a:ea typeface="Fredoka" pitchFamily="34" charset="-122"/>
                <a:cs typeface="Fredoka" pitchFamily="34" charset="-120"/>
              </a:rPr>
              <a:t>¡Hoy descubriste al inventor que llevas dentro!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2026-08-02T00:19:10Z</dcterms:created>
  <dcterms:modified xsi:type="dcterms:W3CDTF">2026-08-02T00:19:10Z</dcterms:modified>
</cp:coreProperties>
</file>